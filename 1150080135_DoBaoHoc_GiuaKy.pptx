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ITC Avant Garde Gothic" charset="1" panose="020B0502020202020204"/>
      <p:regular r:id="rId16"/>
    </p:embeddedFont>
    <p:embeddedFont>
      <p:font typeface="TT Fors" charset="1" panose="020B000303000102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1868150" y="0"/>
            <a:ext cx="6419850" cy="10287000"/>
            <a:chOff x="0" y="0"/>
            <a:chExt cx="994603" cy="1593725"/>
          </a:xfrm>
        </p:grpSpPr>
        <p:sp>
          <p:nvSpPr>
            <p:cNvPr name="Freeform 3" id="3"/>
            <p:cNvSpPr/>
            <p:nvPr/>
          </p:nvSpPr>
          <p:spPr>
            <a:xfrm flipH="false" flipV="false" rot="0">
              <a:off x="0" y="0"/>
              <a:ext cx="994603" cy="1593725"/>
            </a:xfrm>
            <a:custGeom>
              <a:avLst/>
              <a:gdLst/>
              <a:ahLst/>
              <a:cxnLst/>
              <a:rect r="r" b="b" t="t" l="l"/>
              <a:pathLst>
                <a:path h="1593725" w="994603">
                  <a:moveTo>
                    <a:pt x="0" y="0"/>
                  </a:moveTo>
                  <a:lnTo>
                    <a:pt x="994603" y="0"/>
                  </a:lnTo>
                  <a:lnTo>
                    <a:pt x="994603" y="1593725"/>
                  </a:lnTo>
                  <a:lnTo>
                    <a:pt x="0" y="1593725"/>
                  </a:lnTo>
                  <a:close/>
                </a:path>
              </a:pathLst>
            </a:custGeom>
            <a:blipFill>
              <a:blip r:embed="rId2"/>
              <a:stretch>
                <a:fillRect l="0" t="-126" r="0" b="-126"/>
              </a:stretch>
            </a:blipFill>
          </p:spPr>
        </p:sp>
      </p:grpSp>
      <p:grpSp>
        <p:nvGrpSpPr>
          <p:cNvPr name="Group 4" id="4"/>
          <p:cNvGrpSpPr/>
          <p:nvPr/>
        </p:nvGrpSpPr>
        <p:grpSpPr>
          <a:xfrm rot="0">
            <a:off x="666750" y="666750"/>
            <a:ext cx="9763125" cy="3374988"/>
            <a:chOff x="0" y="0"/>
            <a:chExt cx="13017500" cy="4499984"/>
          </a:xfrm>
        </p:grpSpPr>
        <p:sp>
          <p:nvSpPr>
            <p:cNvPr name="TextBox 5" id="5"/>
            <p:cNvSpPr txBox="true"/>
            <p:nvPr/>
          </p:nvSpPr>
          <p:spPr>
            <a:xfrm rot="0">
              <a:off x="0" y="1184275"/>
              <a:ext cx="12609151" cy="3315709"/>
            </a:xfrm>
            <a:prstGeom prst="rect">
              <a:avLst/>
            </a:prstGeom>
          </p:spPr>
          <p:txBody>
            <a:bodyPr anchor="t" rtlCol="false" tIns="0" lIns="0" bIns="0" rIns="0">
              <a:spAutoFit/>
            </a:bodyPr>
            <a:lstStyle/>
            <a:p>
              <a:pPr algn="l" marL="0" indent="0" lvl="0">
                <a:lnSpc>
                  <a:spcPts val="6115"/>
                </a:lnSpc>
              </a:pPr>
              <a:r>
                <a:rPr lang="en-US" sz="6115" spc="-183">
                  <a:solidFill>
                    <a:srgbClr val="2E3C54"/>
                  </a:solidFill>
                  <a:latin typeface="ITC Avant Garde Gothic"/>
                  <a:ea typeface="ITC Avant Garde Gothic"/>
                  <a:cs typeface="ITC Avant Garde Gothic"/>
                  <a:sym typeface="ITC Avant Garde Gothic"/>
                </a:rPr>
                <a:t>Kiểm thử bảo mật cho OWASP WebGoat: tổng hợp kết quả theo nhóm lỗi</a:t>
              </a:r>
            </a:p>
          </p:txBody>
        </p:sp>
        <p:sp>
          <p:nvSpPr>
            <p:cNvPr name="TextBox 6" id="6"/>
            <p:cNvSpPr txBox="true"/>
            <p:nvPr/>
          </p:nvSpPr>
          <p:spPr>
            <a:xfrm rot="0">
              <a:off x="0" y="-104775"/>
              <a:ext cx="13017500" cy="626322"/>
            </a:xfrm>
            <a:prstGeom prst="rect">
              <a:avLst/>
            </a:prstGeom>
          </p:spPr>
          <p:txBody>
            <a:bodyPr anchor="t" rtlCol="false" tIns="0" lIns="0" bIns="0" rIns="0">
              <a:spAutoFit/>
            </a:bodyPr>
            <a:lstStyle/>
            <a:p>
              <a:pPr algn="l" marL="0" indent="0" lvl="0">
                <a:lnSpc>
                  <a:spcPts val="3640"/>
                </a:lnSpc>
                <a:spcBef>
                  <a:spcPct val="0"/>
                </a:spcBef>
              </a:pPr>
              <a:r>
                <a:rPr lang="en-US" sz="2600">
                  <a:solidFill>
                    <a:srgbClr val="51708A"/>
                  </a:solidFill>
                  <a:latin typeface="ITC Avant Garde Gothic"/>
                  <a:ea typeface="ITC Avant Garde Gothic"/>
                  <a:cs typeface="ITC Avant Garde Gothic"/>
                  <a:sym typeface="ITC Avant Garde Gothic"/>
                </a:rPr>
                <a:t>KIỂM THỬ PHẦN MỀM</a:t>
              </a:r>
            </a:p>
          </p:txBody>
        </p:sp>
      </p:grpSp>
      <p:sp>
        <p:nvSpPr>
          <p:cNvPr name="TextBox 7" id="7"/>
          <p:cNvSpPr txBox="true"/>
          <p:nvPr/>
        </p:nvSpPr>
        <p:spPr>
          <a:xfrm rot="0">
            <a:off x="666750" y="7344184"/>
            <a:ext cx="8051422" cy="485366"/>
          </a:xfrm>
          <a:prstGeom prst="rect">
            <a:avLst/>
          </a:prstGeom>
        </p:spPr>
        <p:txBody>
          <a:bodyPr anchor="t" rtlCol="false" tIns="0" lIns="0" bIns="0" rIns="0">
            <a:spAutoFit/>
          </a:bodyPr>
          <a:lstStyle/>
          <a:p>
            <a:pPr algn="l" marL="0" indent="0" lvl="0">
              <a:lnSpc>
                <a:spcPts val="4073"/>
              </a:lnSpc>
            </a:pPr>
            <a:r>
              <a:rPr lang="en-US" sz="2909">
                <a:solidFill>
                  <a:srgbClr val="6B7A91"/>
                </a:solidFill>
                <a:latin typeface="TT Fors"/>
                <a:ea typeface="TT Fors"/>
                <a:cs typeface="TT Fors"/>
                <a:sym typeface="TT Fors"/>
              </a:rPr>
              <a:t>Sinh viên thực hiện: Đỗ Bảo Học_1150080135</a:t>
            </a:r>
          </a:p>
        </p:txBody>
      </p:sp>
      <p:grpSp>
        <p:nvGrpSpPr>
          <p:cNvPr name="Group 8" id="8"/>
          <p:cNvGrpSpPr/>
          <p:nvPr/>
        </p:nvGrpSpPr>
        <p:grpSpPr>
          <a:xfrm rot="0">
            <a:off x="9444829" y="7829550"/>
            <a:ext cx="4846643" cy="1791955"/>
            <a:chOff x="0" y="0"/>
            <a:chExt cx="6462190" cy="2389273"/>
          </a:xfrm>
        </p:grpSpPr>
        <p:sp>
          <p:nvSpPr>
            <p:cNvPr name="Freeform 9" id="9"/>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283974" y="93474"/>
            <a:ext cx="15327014" cy="5281849"/>
            <a:chOff x="0" y="0"/>
            <a:chExt cx="20436019" cy="7042466"/>
          </a:xfrm>
        </p:grpSpPr>
        <p:sp>
          <p:nvSpPr>
            <p:cNvPr name="TextBox 3" id="3"/>
            <p:cNvSpPr txBox="true"/>
            <p:nvPr/>
          </p:nvSpPr>
          <p:spPr>
            <a:xfrm rot="0">
              <a:off x="0" y="-9525"/>
              <a:ext cx="6980536" cy="2023750"/>
            </a:xfrm>
            <a:prstGeom prst="rect">
              <a:avLst/>
            </a:prstGeom>
          </p:spPr>
          <p:txBody>
            <a:bodyPr anchor="t" rtlCol="false" tIns="0" lIns="0" bIns="0" rIns="0">
              <a:spAutoFit/>
            </a:bodyPr>
            <a:lstStyle/>
            <a:p>
              <a:pPr algn="l" marL="0" indent="0" lvl="0">
                <a:lnSpc>
                  <a:spcPts val="3739"/>
                </a:lnSpc>
                <a:spcBef>
                  <a:spcPct val="0"/>
                </a:spcBef>
              </a:pPr>
              <a:r>
                <a:rPr lang="en-US" sz="3739" spc="-112">
                  <a:solidFill>
                    <a:srgbClr val="2E3C54"/>
                  </a:solidFill>
                  <a:latin typeface="ITC Avant Garde Gothic"/>
                  <a:ea typeface="ITC Avant Garde Gothic"/>
                  <a:cs typeface="ITC Avant Garde Gothic"/>
                  <a:sym typeface="ITC Avant Garde Gothic"/>
                </a:rPr>
                <a:t>CHƯƠN</a:t>
              </a:r>
              <a:r>
                <a:rPr lang="en-US" sz="3739" spc="-112" strike="noStrike" u="none">
                  <a:solidFill>
                    <a:srgbClr val="2E3C54"/>
                  </a:solidFill>
                  <a:latin typeface="ITC Avant Garde Gothic"/>
                  <a:ea typeface="ITC Avant Garde Gothic"/>
                  <a:cs typeface="ITC Avant Garde Gothic"/>
                  <a:sym typeface="ITC Avant Garde Gothic"/>
                </a:rPr>
                <a:t>G </a:t>
              </a:r>
              <a:r>
                <a:rPr lang="en-US" sz="3739" spc="-112" strike="noStrike" u="none">
                  <a:solidFill>
                    <a:srgbClr val="2E3C54"/>
                  </a:solidFill>
                  <a:latin typeface="ITC Avant Garde Gothic"/>
                  <a:ea typeface="ITC Avant Garde Gothic"/>
                  <a:cs typeface="ITC Avant Garde Gothic"/>
                  <a:sym typeface="ITC Avant Garde Gothic"/>
                </a:rPr>
                <a:t>1: TỔNG</a:t>
              </a:r>
              <a:r>
                <a:rPr lang="en-US" sz="3739" spc="-112" strike="noStrike" u="none">
                  <a:solidFill>
                    <a:srgbClr val="2E3C54"/>
                  </a:solidFill>
                  <a:latin typeface="ITC Avant Garde Gothic"/>
                  <a:ea typeface="ITC Avant Garde Gothic"/>
                  <a:cs typeface="ITC Avant Garde Gothic"/>
                  <a:sym typeface="ITC Avant Garde Gothic"/>
                </a:rPr>
                <a:t> </a:t>
              </a:r>
              <a:r>
                <a:rPr lang="en-US" sz="3739" spc="-112" strike="noStrike" u="none">
                  <a:solidFill>
                    <a:srgbClr val="2E3C54"/>
                  </a:solidFill>
                  <a:latin typeface="ITC Avant Garde Gothic"/>
                  <a:ea typeface="ITC Avant Garde Gothic"/>
                  <a:cs typeface="ITC Avant Garde Gothic"/>
                  <a:sym typeface="ITC Avant Garde Gothic"/>
                </a:rPr>
                <a:t>QU</a:t>
              </a:r>
              <a:r>
                <a:rPr lang="en-US" sz="3739" spc="-112" strike="noStrike" u="none">
                  <a:solidFill>
                    <a:srgbClr val="2E3C54"/>
                  </a:solidFill>
                  <a:latin typeface="ITC Avant Garde Gothic"/>
                  <a:ea typeface="ITC Avant Garde Gothic"/>
                  <a:cs typeface="ITC Avant Garde Gothic"/>
                  <a:sym typeface="ITC Avant Garde Gothic"/>
                </a:rPr>
                <a:t>A</a:t>
              </a:r>
              <a:r>
                <a:rPr lang="en-US" sz="3739" spc="-112" strike="noStrike" u="none">
                  <a:solidFill>
                    <a:srgbClr val="2E3C54"/>
                  </a:solidFill>
                  <a:latin typeface="ITC Avant Garde Gothic"/>
                  <a:ea typeface="ITC Avant Garde Gothic"/>
                  <a:cs typeface="ITC Avant Garde Gothic"/>
                  <a:sym typeface="ITC Avant Garde Gothic"/>
                </a:rPr>
                <a:t>N</a:t>
              </a:r>
              <a:r>
                <a:rPr lang="en-US" sz="3739" spc="-112" strike="noStrike" u="none">
                  <a:solidFill>
                    <a:srgbClr val="2E3C54"/>
                  </a:solidFill>
                  <a:latin typeface="ITC Avant Garde Gothic"/>
                  <a:ea typeface="ITC Avant Garde Gothic"/>
                  <a:cs typeface="ITC Avant Garde Gothic"/>
                  <a:sym typeface="ITC Avant Garde Gothic"/>
                </a:rPr>
                <a:t> </a:t>
              </a:r>
              <a:r>
                <a:rPr lang="en-US" sz="3739" spc="-112" strike="noStrike" u="none">
                  <a:solidFill>
                    <a:srgbClr val="2E3C54"/>
                  </a:solidFill>
                  <a:latin typeface="ITC Avant Garde Gothic"/>
                  <a:ea typeface="ITC Avant Garde Gothic"/>
                  <a:cs typeface="ITC Avant Garde Gothic"/>
                  <a:sym typeface="ITC Avant Garde Gothic"/>
                </a:rPr>
                <a:t>VỀ DỰ ÁN </a:t>
              </a:r>
            </a:p>
            <a:p>
              <a:pPr algn="l" marL="0" indent="0" lvl="0">
                <a:lnSpc>
                  <a:spcPts val="3739"/>
                </a:lnSpc>
                <a:spcBef>
                  <a:spcPct val="0"/>
                </a:spcBef>
              </a:pPr>
            </a:p>
          </p:txBody>
        </p:sp>
        <p:sp>
          <p:nvSpPr>
            <p:cNvPr name="TextBox 4" id="4"/>
            <p:cNvSpPr txBox="true"/>
            <p:nvPr/>
          </p:nvSpPr>
          <p:spPr>
            <a:xfrm rot="0">
              <a:off x="633883" y="5687600"/>
              <a:ext cx="19802136" cy="1354866"/>
            </a:xfrm>
            <a:prstGeom prst="rect">
              <a:avLst/>
            </a:prstGeom>
          </p:spPr>
          <p:txBody>
            <a:bodyPr anchor="t" rtlCol="false" tIns="0" lIns="0" bIns="0" rIns="0">
              <a:spAutoFit/>
            </a:bodyPr>
            <a:lstStyle/>
            <a:p>
              <a:pPr algn="l">
                <a:lnSpc>
                  <a:spcPts val="4016"/>
                </a:lnSpc>
                <a:spcBef>
                  <a:spcPct val="0"/>
                </a:spcBef>
              </a:pPr>
            </a:p>
            <a:p>
              <a:pPr algn="l" marL="0" indent="0" lvl="0">
                <a:lnSpc>
                  <a:spcPts val="4016"/>
                </a:lnSpc>
                <a:spcBef>
                  <a:spcPct val="0"/>
                </a:spcBef>
              </a:pPr>
            </a:p>
          </p:txBody>
        </p:sp>
      </p:grpSp>
      <p:sp>
        <p:nvSpPr>
          <p:cNvPr name="TextBox 5" id="5"/>
          <p:cNvSpPr txBox="true"/>
          <p:nvPr/>
        </p:nvSpPr>
        <p:spPr>
          <a:xfrm rot="0">
            <a:off x="598077" y="1997563"/>
            <a:ext cx="16661223" cy="1224534"/>
          </a:xfrm>
          <a:prstGeom prst="rect">
            <a:avLst/>
          </a:prstGeom>
        </p:spPr>
        <p:txBody>
          <a:bodyPr anchor="t" rtlCol="false" tIns="0" lIns="0" bIns="0" rIns="0">
            <a:spAutoFit/>
          </a:bodyPr>
          <a:lstStyle/>
          <a:p>
            <a:pPr algn="l">
              <a:lnSpc>
                <a:spcPts val="1861"/>
              </a:lnSpc>
              <a:spcBef>
                <a:spcPct val="0"/>
              </a:spcBef>
            </a:pPr>
            <a:r>
              <a:rPr lang="en-US" sz="1861" spc="-55">
                <a:solidFill>
                  <a:srgbClr val="000000"/>
                </a:solidFill>
                <a:latin typeface="ITC Avant Garde Gothic"/>
                <a:ea typeface="ITC Avant Garde Gothic"/>
                <a:cs typeface="ITC Avant Garde Gothic"/>
                <a:sym typeface="ITC Avant Garde Gothic"/>
              </a:rPr>
              <a:t>Đề tài "Kiểm thử bảo mật cho OWASP WebGoat: tổng hợp kết quả theo nhóm lỗi" tập trung vào việc áp dụng các nguyên lý và kỹ thuật kiểm thử phần mềm chuyên sâu — đặc biệt là kiểm thử hộp trắng (White-box Testing) — vào môi trường thực tế. Dự án không chỉ dừng lại ở việc tìm ra và khai thác các lỗ hổng (như SQL Injection, Broken Access Control, Authentication Failures, v.v.), mà còn đi sâu vào phân tích luồng điều khiển (Control Flow), thiết kế Test Case tối ưu cho từng nhánh logic, và viết mã kiểm thử tự động. Mục tiêu cuối cùng là vá lỗi và đưa ra cơ sở đánh giá chất lượng phần mềm dựa trên các số liệu bao phủ mã nguồn (Code Coverage).</a:t>
            </a:r>
          </a:p>
        </p:txBody>
      </p:sp>
      <p:sp>
        <p:nvSpPr>
          <p:cNvPr name="TextBox 6" id="6"/>
          <p:cNvSpPr txBox="true"/>
          <p:nvPr/>
        </p:nvSpPr>
        <p:spPr>
          <a:xfrm rot="0">
            <a:off x="598077" y="3751127"/>
            <a:ext cx="3832027" cy="456396"/>
          </a:xfrm>
          <a:prstGeom prst="rect">
            <a:avLst/>
          </a:prstGeom>
        </p:spPr>
        <p:txBody>
          <a:bodyPr anchor="t" rtlCol="false" tIns="0" lIns="0" bIns="0" rIns="0">
            <a:spAutoFit/>
          </a:bodyPr>
          <a:lstStyle/>
          <a:p>
            <a:pPr algn="ctr">
              <a:lnSpc>
                <a:spcPts val="2968"/>
              </a:lnSpc>
              <a:spcBef>
                <a:spcPct val="0"/>
              </a:spcBef>
            </a:pPr>
            <a:r>
              <a:rPr lang="en-US" sz="2968" spc="-89">
                <a:solidFill>
                  <a:srgbClr val="000000"/>
                </a:solidFill>
                <a:latin typeface="ITC Avant Garde Gothic"/>
                <a:ea typeface="ITC Avant Garde Gothic"/>
                <a:cs typeface="ITC Avant Garde Gothic"/>
                <a:sym typeface="ITC Avant Garde Gothic"/>
              </a:rPr>
              <a:t>1.2. Mục tiêu kiểm thử </a:t>
            </a:r>
          </a:p>
        </p:txBody>
      </p:sp>
      <p:sp>
        <p:nvSpPr>
          <p:cNvPr name="TextBox 7" id="7"/>
          <p:cNvSpPr txBox="true"/>
          <p:nvPr/>
        </p:nvSpPr>
        <p:spPr>
          <a:xfrm rot="0">
            <a:off x="675349" y="1265835"/>
            <a:ext cx="3677483" cy="456396"/>
          </a:xfrm>
          <a:prstGeom prst="rect">
            <a:avLst/>
          </a:prstGeom>
        </p:spPr>
        <p:txBody>
          <a:bodyPr anchor="t" rtlCol="false" tIns="0" lIns="0" bIns="0" rIns="0">
            <a:spAutoFit/>
          </a:bodyPr>
          <a:lstStyle/>
          <a:p>
            <a:pPr algn="ctr">
              <a:lnSpc>
                <a:spcPts val="2968"/>
              </a:lnSpc>
              <a:spcBef>
                <a:spcPct val="0"/>
              </a:spcBef>
            </a:pPr>
            <a:r>
              <a:rPr lang="en-US" sz="2968" spc="-89">
                <a:solidFill>
                  <a:srgbClr val="000000"/>
                </a:solidFill>
                <a:latin typeface="ITC Avant Garde Gothic"/>
                <a:ea typeface="ITC Avant Garde Gothic"/>
                <a:cs typeface="ITC Avant Garde Gothic"/>
                <a:sym typeface="ITC Avant Garde Gothic"/>
              </a:rPr>
              <a:t>1.1. Tổng quan đề tài </a:t>
            </a:r>
          </a:p>
        </p:txBody>
      </p:sp>
      <p:sp>
        <p:nvSpPr>
          <p:cNvPr name="TextBox 8" id="8"/>
          <p:cNvSpPr txBox="true"/>
          <p:nvPr/>
        </p:nvSpPr>
        <p:spPr>
          <a:xfrm rot="0">
            <a:off x="675349" y="4438562"/>
            <a:ext cx="16492672" cy="1613401"/>
          </a:xfrm>
          <a:prstGeom prst="rect">
            <a:avLst/>
          </a:prstGeom>
        </p:spPr>
        <p:txBody>
          <a:bodyPr anchor="t" rtlCol="false" tIns="0" lIns="0" bIns="0" rIns="0">
            <a:spAutoFit/>
          </a:bodyPr>
          <a:lstStyle/>
          <a:p>
            <a:pPr algn="l">
              <a:lnSpc>
                <a:spcPts val="2073"/>
              </a:lnSpc>
              <a:spcBef>
                <a:spcPct val="0"/>
              </a:spcBef>
            </a:pPr>
            <a:r>
              <a:rPr lang="en-US" sz="2073" spc="-62">
                <a:solidFill>
                  <a:srgbClr val="000000"/>
                </a:solidFill>
                <a:latin typeface="ITC Avant Garde Gothic"/>
                <a:ea typeface="ITC Avant Garde Gothic"/>
                <a:cs typeface="ITC Avant Garde Gothic"/>
                <a:sym typeface="ITC Avant Garde Gothic"/>
              </a:rPr>
              <a:t>hực hành kỹ thuật kiểm thử: Áp dụng thành thạo 4 tiêu chuẩn kiểm thử hộp trắng bao gồm: Bao phủ Dòng lệnh (Statement Coverage), Bao phủ Quyết định (Decision Coverage), Bao phủ Nhánh (Branch Coverage) và Bao phủ Đường dẫn (Path Coverage), đặc biệt chú trọng phân tích biên với vòng lặp (Loop Boundary Testing).</a:t>
            </a:r>
          </a:p>
          <a:p>
            <a:pPr algn="l">
              <a:lnSpc>
                <a:spcPts val="2073"/>
              </a:lnSpc>
              <a:spcBef>
                <a:spcPct val="0"/>
              </a:spcBef>
            </a:pPr>
            <a:r>
              <a:rPr lang="en-US" sz="2073" spc="-62">
                <a:solidFill>
                  <a:srgbClr val="000000"/>
                </a:solidFill>
                <a:latin typeface="ITC Avant Garde Gothic"/>
                <a:ea typeface="ITC Avant Garde Gothic"/>
                <a:cs typeface="ITC Avant Garde Gothic"/>
                <a:sym typeface="ITC Avant Garde Gothic"/>
              </a:rPr>
              <a:t>Đảm bảo chất lượng mã nguồn: Thực thi Unit Test để đạt mức độ bao phủ mã lệnh (Code Coverage) tuyệt đối 100% đối với các Service xử lý logic lõi.</a:t>
            </a:r>
          </a:p>
          <a:p>
            <a:pPr algn="l">
              <a:lnSpc>
                <a:spcPts val="2073"/>
              </a:lnSpc>
              <a:spcBef>
                <a:spcPct val="0"/>
              </a:spcBef>
            </a:pPr>
            <a:r>
              <a:rPr lang="en-US" sz="2073" spc="-62">
                <a:solidFill>
                  <a:srgbClr val="000000"/>
                </a:solidFill>
                <a:latin typeface="ITC Avant Garde Gothic"/>
                <a:ea typeface="ITC Avant Garde Gothic"/>
                <a:cs typeface="ITC Avant Garde Gothic"/>
                <a:sym typeface="ITC Avant Garde Gothic"/>
              </a:rPr>
              <a:t>Đánh giá rủi ro: Phân loại và tổng hợp chi tiết kết quả lỗi dựa trên OWASP Top 10, phân định mức độ nghiêm trọng của từng nhóm lỗi</a:t>
            </a:r>
          </a:p>
        </p:txBody>
      </p:sp>
      <p:sp>
        <p:nvSpPr>
          <p:cNvPr name="TextBox 9" id="9"/>
          <p:cNvSpPr txBox="true"/>
          <p:nvPr/>
        </p:nvSpPr>
        <p:spPr>
          <a:xfrm rot="0">
            <a:off x="675349" y="6337713"/>
            <a:ext cx="4099560" cy="434806"/>
          </a:xfrm>
          <a:prstGeom prst="rect">
            <a:avLst/>
          </a:prstGeom>
        </p:spPr>
        <p:txBody>
          <a:bodyPr anchor="t" rtlCol="false" tIns="0" lIns="0" bIns="0" rIns="0">
            <a:spAutoFit/>
          </a:bodyPr>
          <a:lstStyle/>
          <a:p>
            <a:pPr algn="ctr">
              <a:lnSpc>
                <a:spcPts val="2868"/>
              </a:lnSpc>
              <a:spcBef>
                <a:spcPct val="0"/>
              </a:spcBef>
            </a:pPr>
            <a:r>
              <a:rPr lang="en-US" sz="2868" spc="-86">
                <a:solidFill>
                  <a:srgbClr val="000000"/>
                </a:solidFill>
                <a:latin typeface="ITC Avant Garde Gothic"/>
                <a:ea typeface="ITC Avant Garde Gothic"/>
                <a:cs typeface="ITC Avant Garde Gothic"/>
                <a:sym typeface="ITC Avant Garde Gothic"/>
              </a:rPr>
              <a:t>1.3. Công nghệ nền tảng</a:t>
            </a:r>
          </a:p>
        </p:txBody>
      </p:sp>
      <p:sp>
        <p:nvSpPr>
          <p:cNvPr name="TextBox 10" id="10"/>
          <p:cNvSpPr txBox="true"/>
          <p:nvPr/>
        </p:nvSpPr>
        <p:spPr>
          <a:xfrm rot="0">
            <a:off x="675349" y="6762994"/>
            <a:ext cx="16583951" cy="3121315"/>
          </a:xfrm>
          <a:prstGeom prst="rect">
            <a:avLst/>
          </a:prstGeom>
        </p:spPr>
        <p:txBody>
          <a:bodyPr anchor="t" rtlCol="false" tIns="0" lIns="0" bIns="0" rIns="0">
            <a:spAutoFit/>
          </a:bodyPr>
          <a:lstStyle/>
          <a:p>
            <a:pPr algn="l">
              <a:lnSpc>
                <a:spcPts val="2214"/>
              </a:lnSpc>
              <a:spcBef>
                <a:spcPct val="0"/>
              </a:spcBef>
            </a:pPr>
            <a:r>
              <a:rPr lang="en-US" sz="2214" spc="-66">
                <a:solidFill>
                  <a:srgbClr val="000000"/>
                </a:solidFill>
                <a:latin typeface="ITC Avant Garde Gothic"/>
                <a:ea typeface="ITC Avant Garde Gothic"/>
                <a:cs typeface="ITC Avant Garde Gothic"/>
                <a:sym typeface="ITC Avant Garde Gothic"/>
              </a:rPr>
              <a:t>Dự án được xây dựng, triển khai và đánh giá dựa trên một hệ sinh thái các công cụ hiện đại và tiêu chuẩn trong ngành phát triển phần mềm:</a:t>
            </a:r>
          </a:p>
          <a:p>
            <a:pPr algn="l">
              <a:lnSpc>
                <a:spcPts val="2214"/>
              </a:lnSpc>
              <a:spcBef>
                <a:spcPct val="0"/>
              </a:spcBef>
            </a:pPr>
            <a:r>
              <a:rPr lang="en-US" sz="2214" spc="-66">
                <a:solidFill>
                  <a:srgbClr val="000000"/>
                </a:solidFill>
                <a:latin typeface="ITC Avant Garde Gothic"/>
                <a:ea typeface="ITC Avant Garde Gothic"/>
                <a:cs typeface="ITC Avant Garde Gothic"/>
                <a:sym typeface="ITC Avant Garde Gothic"/>
              </a:rPr>
              <a:t> Ngôn ngữ lập trình: Java (phiên bản 17+), đóng vai trò là ngôn ngữ cốt lõi được sử dụng bởi cả OWASP WebGoat và các kịch bản Unit Test.</a:t>
            </a:r>
          </a:p>
          <a:p>
            <a:pPr algn="l">
              <a:lnSpc>
                <a:spcPts val="2214"/>
              </a:lnSpc>
              <a:spcBef>
                <a:spcPct val="0"/>
              </a:spcBef>
            </a:pPr>
            <a:r>
              <a:rPr lang="en-US" sz="2214" spc="-66">
                <a:solidFill>
                  <a:srgbClr val="000000"/>
                </a:solidFill>
                <a:latin typeface="ITC Avant Garde Gothic"/>
                <a:ea typeface="ITC Avant Garde Gothic"/>
                <a:cs typeface="ITC Avant Garde Gothic"/>
                <a:sym typeface="ITC Avant Garde Gothic"/>
              </a:rPr>
              <a:t> Framework kiểm thử: JUnit 5 (viết test logic) kết hợp cùng Framework Mocking (để giả lập các tương tác cơ sở dữ liệu và session ngoại vi).</a:t>
            </a:r>
          </a:p>
          <a:p>
            <a:pPr algn="l">
              <a:lnSpc>
                <a:spcPts val="2214"/>
              </a:lnSpc>
              <a:spcBef>
                <a:spcPct val="0"/>
              </a:spcBef>
            </a:pPr>
            <a:r>
              <a:rPr lang="en-US" sz="2214" spc="-66">
                <a:solidFill>
                  <a:srgbClr val="000000"/>
                </a:solidFill>
                <a:latin typeface="ITC Avant Garde Gothic"/>
                <a:ea typeface="ITC Avant Garde Gothic"/>
                <a:cs typeface="ITC Avant Garde Gothic"/>
                <a:sym typeface="ITC Avant Garde Gothic"/>
              </a:rPr>
              <a:t> Đo lường độ bao phủ: Thư viện JaCoCo (Java Code Coverage) được cài đặt để đo đạc tự động các chỉ số bao phủ nhánh và câu lệnh, sau đó xuất ra HTML Report.</a:t>
            </a:r>
          </a:p>
          <a:p>
            <a:pPr algn="l">
              <a:lnSpc>
                <a:spcPts val="2214"/>
              </a:lnSpc>
              <a:spcBef>
                <a:spcPct val="0"/>
              </a:spcBef>
            </a:pPr>
            <a:r>
              <a:rPr lang="en-US" sz="2214" spc="-66">
                <a:solidFill>
                  <a:srgbClr val="000000"/>
                </a:solidFill>
                <a:latin typeface="ITC Avant Garde Gothic"/>
                <a:ea typeface="ITC Avant Garde Gothic"/>
                <a:cs typeface="ITC Avant Garde Gothic"/>
                <a:sym typeface="ITC Avant Garde Gothic"/>
              </a:rPr>
              <a:t> Quản lý dự án &amp; Build Pipeline: Apache Maven được sử dụng tải dependencies, Clean, và chạy phase mvn test để tự động hóa kiểm thử mã nguồn.</a:t>
            </a:r>
          </a:p>
          <a:p>
            <a:pPr algn="l">
              <a:lnSpc>
                <a:spcPts val="2214"/>
              </a:lnSpc>
              <a:spcBef>
                <a:spcPct val="0"/>
              </a:spcBef>
            </a:pPr>
            <a:r>
              <a:rPr lang="en-US" sz="2214" spc="-66">
                <a:solidFill>
                  <a:srgbClr val="000000"/>
                </a:solidFill>
                <a:latin typeface="ITC Avant Garde Gothic"/>
                <a:ea typeface="ITC Avant Garde Gothic"/>
                <a:cs typeface="ITC Avant Garde Gothic"/>
                <a:sym typeface="ITC Avant Garde Gothic"/>
              </a:rPr>
              <a:t> Kiến trúc ứng dụng: Hệ thống WebGoat tuân thủ cấu trúc của Spring Boot / Spring MVC framework.</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227135" y="266700"/>
            <a:ext cx="10926822" cy="866109"/>
          </a:xfrm>
          <a:prstGeom prst="rect">
            <a:avLst/>
          </a:prstGeom>
        </p:spPr>
        <p:txBody>
          <a:bodyPr anchor="t" rtlCol="false" tIns="0" lIns="0" bIns="0" rIns="0">
            <a:spAutoFit/>
          </a:bodyPr>
          <a:lstStyle/>
          <a:p>
            <a:pPr algn="l" marL="0" indent="0" lvl="0">
              <a:lnSpc>
                <a:spcPts val="3117"/>
              </a:lnSpc>
              <a:spcBef>
                <a:spcPct val="0"/>
              </a:spcBef>
            </a:pPr>
            <a:r>
              <a:rPr lang="en-US" sz="3117" spc="-93">
                <a:solidFill>
                  <a:srgbClr val="2E3C54"/>
                </a:solidFill>
                <a:latin typeface="ITC Avant Garde Gothic"/>
                <a:ea typeface="ITC Avant Garde Gothic"/>
                <a:cs typeface="ITC Avant Garde Gothic"/>
                <a:sym typeface="ITC Avant Garde Gothic"/>
              </a:rPr>
              <a:t>CHƯƠNG 2: PHÂN TÍCH YÊU CẦU VÀ PHẠ</a:t>
            </a:r>
            <a:r>
              <a:rPr lang="en-US" sz="3117" spc="-93" strike="noStrike" u="none">
                <a:solidFill>
                  <a:srgbClr val="2E3C54"/>
                </a:solidFill>
                <a:latin typeface="ITC Avant Garde Gothic"/>
                <a:ea typeface="ITC Avant Garde Gothic"/>
                <a:cs typeface="ITC Avant Garde Gothic"/>
                <a:sym typeface="ITC Avant Garde Gothic"/>
              </a:rPr>
              <a:t>M</a:t>
            </a:r>
            <a:r>
              <a:rPr lang="en-US" sz="3117" spc="-93" strike="noStrike" u="none">
                <a:solidFill>
                  <a:srgbClr val="2E3C54"/>
                </a:solidFill>
                <a:latin typeface="ITC Avant Garde Gothic"/>
                <a:ea typeface="ITC Avant Garde Gothic"/>
                <a:cs typeface="ITC Avant Garde Gothic"/>
                <a:sym typeface="ITC Avant Garde Gothic"/>
              </a:rPr>
              <a:t> VI</a:t>
            </a:r>
            <a:r>
              <a:rPr lang="en-US" sz="3117" spc="-93" strike="noStrike" u="none">
                <a:solidFill>
                  <a:srgbClr val="2E3C54"/>
                </a:solidFill>
                <a:latin typeface="ITC Avant Garde Gothic"/>
                <a:ea typeface="ITC Avant Garde Gothic"/>
                <a:cs typeface="ITC Avant Garde Gothic"/>
                <a:sym typeface="ITC Avant Garde Gothic"/>
              </a:rPr>
              <a:t> </a:t>
            </a:r>
            <a:r>
              <a:rPr lang="en-US" sz="3117" spc="-93" strike="noStrike" u="none">
                <a:solidFill>
                  <a:srgbClr val="2E3C54"/>
                </a:solidFill>
                <a:latin typeface="ITC Avant Garde Gothic"/>
                <a:ea typeface="ITC Avant Garde Gothic"/>
                <a:cs typeface="ITC Avant Garde Gothic"/>
                <a:sym typeface="ITC Avant Garde Gothic"/>
              </a:rPr>
              <a:t>KIỂM</a:t>
            </a:r>
            <a:r>
              <a:rPr lang="en-US" sz="3117" spc="-93" strike="noStrike" u="none">
                <a:solidFill>
                  <a:srgbClr val="2E3C54"/>
                </a:solidFill>
                <a:latin typeface="ITC Avant Garde Gothic"/>
                <a:ea typeface="ITC Avant Garde Gothic"/>
                <a:cs typeface="ITC Avant Garde Gothic"/>
                <a:sym typeface="ITC Avant Garde Gothic"/>
              </a:rPr>
              <a:t> </a:t>
            </a:r>
            <a:r>
              <a:rPr lang="en-US" sz="3117" spc="-93" strike="noStrike" u="none">
                <a:solidFill>
                  <a:srgbClr val="2E3C54"/>
                </a:solidFill>
                <a:latin typeface="ITC Avant Garde Gothic"/>
                <a:ea typeface="ITC Avant Garde Gothic"/>
                <a:cs typeface="ITC Avant Garde Gothic"/>
                <a:sym typeface="ITC Avant Garde Gothic"/>
              </a:rPr>
              <a:t>THỬ</a:t>
            </a:r>
            <a:r>
              <a:rPr lang="en-US" sz="3117" spc="-93" strike="noStrike" u="none">
                <a:solidFill>
                  <a:srgbClr val="2E3C54"/>
                </a:solidFill>
                <a:latin typeface="ITC Avant Garde Gothic"/>
                <a:ea typeface="ITC Avant Garde Gothic"/>
                <a:cs typeface="ITC Avant Garde Gothic"/>
                <a:sym typeface="ITC Avant Garde Gothic"/>
              </a:rPr>
              <a:t> </a:t>
            </a:r>
          </a:p>
          <a:p>
            <a:pPr algn="l" marL="0" indent="0" lvl="0">
              <a:lnSpc>
                <a:spcPts val="3117"/>
              </a:lnSpc>
              <a:spcBef>
                <a:spcPct val="0"/>
              </a:spcBef>
            </a:pPr>
          </a:p>
        </p:txBody>
      </p:sp>
      <p:sp>
        <p:nvSpPr>
          <p:cNvPr name="TextBox 3" id="3"/>
          <p:cNvSpPr txBox="true"/>
          <p:nvPr/>
        </p:nvSpPr>
        <p:spPr>
          <a:xfrm rot="0">
            <a:off x="811466" y="1028700"/>
            <a:ext cx="6735842" cy="367496"/>
          </a:xfrm>
          <a:prstGeom prst="rect">
            <a:avLst/>
          </a:prstGeom>
        </p:spPr>
        <p:txBody>
          <a:bodyPr anchor="t" rtlCol="false" tIns="0" lIns="0" bIns="0" rIns="0">
            <a:spAutoFit/>
          </a:bodyPr>
          <a:lstStyle/>
          <a:p>
            <a:pPr algn="ctr">
              <a:lnSpc>
                <a:spcPts val="2468"/>
              </a:lnSpc>
              <a:spcBef>
                <a:spcPct val="0"/>
              </a:spcBef>
            </a:pPr>
            <a:r>
              <a:rPr lang="en-US" sz="2468" spc="-74">
                <a:solidFill>
                  <a:srgbClr val="2E3C54"/>
                </a:solidFill>
                <a:latin typeface="ITC Avant Garde Gothic"/>
                <a:ea typeface="ITC Avant Garde Gothic"/>
                <a:cs typeface="ITC Avant Garde Gothic"/>
                <a:sym typeface="ITC Avant Garde Gothic"/>
              </a:rPr>
              <a:t>2.1. Danh sách các chức năng của ứng dụng </a:t>
            </a:r>
          </a:p>
        </p:txBody>
      </p:sp>
      <p:grpSp>
        <p:nvGrpSpPr>
          <p:cNvPr name="Group 4" id="4"/>
          <p:cNvGrpSpPr/>
          <p:nvPr/>
        </p:nvGrpSpPr>
        <p:grpSpPr>
          <a:xfrm rot="0">
            <a:off x="811466" y="1475571"/>
            <a:ext cx="14402259" cy="3148981"/>
            <a:chOff x="0" y="0"/>
            <a:chExt cx="19203012" cy="4198641"/>
          </a:xfrm>
        </p:grpSpPr>
        <p:sp>
          <p:nvSpPr>
            <p:cNvPr name="TextBox 5" id="5"/>
            <p:cNvSpPr txBox="true"/>
            <p:nvPr/>
          </p:nvSpPr>
          <p:spPr>
            <a:xfrm rot="0">
              <a:off x="0" y="3895849"/>
              <a:ext cx="19203012" cy="302792"/>
            </a:xfrm>
            <a:prstGeom prst="rect">
              <a:avLst/>
            </a:prstGeom>
          </p:spPr>
          <p:txBody>
            <a:bodyPr anchor="t" rtlCol="false" tIns="0" lIns="0" bIns="0" rIns="0">
              <a:spAutoFit/>
            </a:bodyPr>
            <a:lstStyle/>
            <a:p>
              <a:pPr algn="l" marL="0" indent="0" lvl="0">
                <a:lnSpc>
                  <a:spcPts val="1900"/>
                </a:lnSpc>
                <a:spcBef>
                  <a:spcPct val="0"/>
                </a:spcBef>
              </a:pPr>
            </a:p>
          </p:txBody>
        </p:sp>
        <p:sp>
          <p:nvSpPr>
            <p:cNvPr name="TextBox 6" id="6"/>
            <p:cNvSpPr txBox="true"/>
            <p:nvPr/>
          </p:nvSpPr>
          <p:spPr>
            <a:xfrm rot="0">
              <a:off x="0" y="-66675"/>
              <a:ext cx="19203012" cy="3556511"/>
            </a:xfrm>
            <a:prstGeom prst="rect">
              <a:avLst/>
            </a:prstGeom>
          </p:spPr>
          <p:txBody>
            <a:bodyPr anchor="t" rtlCol="false" tIns="0" lIns="0" bIns="0" rIns="0">
              <a:spAutoFit/>
            </a:bodyPr>
            <a:lstStyle/>
            <a:p>
              <a:pPr algn="l">
                <a:lnSpc>
                  <a:spcPts val="2353"/>
                </a:lnSpc>
              </a:pPr>
              <a:r>
                <a:rPr lang="en-US" sz="1680" spc="-50">
                  <a:solidFill>
                    <a:srgbClr val="6B7A91"/>
                  </a:solidFill>
                  <a:latin typeface="ITC Avant Garde Gothic"/>
                  <a:ea typeface="ITC Avant Garde Gothic"/>
                  <a:cs typeface="ITC Avant Garde Gothic"/>
                  <a:sym typeface="ITC Avant Garde Gothic"/>
                </a:rPr>
                <a:t>A1 – Session Hijacking: Chiếm quyền phiên đăng nhập của người dùng</a:t>
              </a:r>
            </a:p>
            <a:p>
              <a:pPr algn="l">
                <a:lnSpc>
                  <a:spcPts val="2353"/>
                </a:lnSpc>
                <a:spcBef>
                  <a:spcPct val="0"/>
                </a:spcBef>
              </a:pPr>
              <a:r>
                <a:rPr lang="en-US" sz="1680" spc="-50">
                  <a:solidFill>
                    <a:srgbClr val="6B7A91"/>
                  </a:solidFill>
                  <a:latin typeface="ITC Avant Garde Gothic"/>
                  <a:ea typeface="ITC Avant Garde Gothic"/>
                  <a:cs typeface="ITC Avant Garde Gothic"/>
                  <a:sym typeface="ITC Avant Garde Gothic"/>
                </a:rPr>
                <a:t>A2 – Cryptographic Basics: Lỗi mã </a:t>
              </a:r>
              <a:r>
                <a:rPr lang="en-US" sz="1680" spc="-50" strike="noStrike" u="none">
                  <a:solidFill>
                    <a:srgbClr val="6B7A91"/>
                  </a:solidFill>
                  <a:latin typeface="ITC Avant Garde Gothic"/>
                  <a:ea typeface="ITC Avant Garde Gothic"/>
                  <a:cs typeface="ITC Avant Garde Gothic"/>
                  <a:sym typeface="ITC Avant Garde Gothic"/>
                </a:rPr>
                <a:t>hóa dữ liệu cơ bản</a:t>
              </a:r>
            </a:p>
            <a:p>
              <a:pPr algn="l">
                <a:lnSpc>
                  <a:spcPts val="2353"/>
                </a:lnSpc>
                <a:spcBef>
                  <a:spcPct val="0"/>
                </a:spcBef>
              </a:pPr>
              <a:r>
                <a:rPr lang="en-US" sz="1680" spc="-50" strike="noStrike" u="none">
                  <a:solidFill>
                    <a:srgbClr val="6B7A91"/>
                  </a:solidFill>
                  <a:latin typeface="ITC Avant Garde Gothic"/>
                  <a:ea typeface="ITC Avant Garde Gothic"/>
                  <a:cs typeface="ITC Avant Garde Gothic"/>
                  <a:sym typeface="ITC Avant Garde Gothic"/>
                </a:rPr>
                <a:t>A3 – SQL Injection: Tấn công chèn câu lệnh SQL</a:t>
              </a:r>
            </a:p>
            <a:p>
              <a:pPr algn="l">
                <a:lnSpc>
                  <a:spcPts val="2353"/>
                </a:lnSpc>
                <a:spcBef>
                  <a:spcPct val="0"/>
                </a:spcBef>
              </a:pPr>
              <a:r>
                <a:rPr lang="en-US" sz="1680" spc="-50" strike="noStrike" u="none">
                  <a:solidFill>
                    <a:srgbClr val="6B7A91"/>
                  </a:solidFill>
                  <a:latin typeface="ITC Avant Garde Gothic"/>
                  <a:ea typeface="ITC Avant Garde Gothic"/>
                  <a:cs typeface="ITC Avant Garde Gothic"/>
                  <a:sym typeface="ITC Avant Garde Gothic"/>
                </a:rPr>
                <a:t>A5 – Cross-Site Request Forgery (CSRF): Giả </a:t>
              </a:r>
              <a:r>
                <a:rPr lang="en-US" sz="1680" spc="-50" strike="noStrike" u="none">
                  <a:solidFill>
                    <a:srgbClr val="6B7A91"/>
                  </a:solidFill>
                  <a:latin typeface="ITC Avant Garde Gothic"/>
                  <a:ea typeface="ITC Avant Garde Gothic"/>
                  <a:cs typeface="ITC Avant Garde Gothic"/>
                  <a:sym typeface="ITC Avant Garde Gothic"/>
                </a:rPr>
                <a:t>m</a:t>
              </a:r>
              <a:r>
                <a:rPr lang="en-US" sz="1680" spc="-50" strike="noStrike" u="none">
                  <a:solidFill>
                    <a:srgbClr val="6B7A91"/>
                  </a:solidFill>
                  <a:latin typeface="ITC Avant Garde Gothic"/>
                  <a:ea typeface="ITC Avant Garde Gothic"/>
                  <a:cs typeface="ITC Avant Garde Gothic"/>
                  <a:sym typeface="ITC Avant Garde Gothic"/>
                </a:rPr>
                <a:t>ạo</a:t>
              </a:r>
              <a:r>
                <a:rPr lang="en-US" sz="1680" spc="-50" strike="noStrike" u="none">
                  <a:solidFill>
                    <a:srgbClr val="6B7A91"/>
                  </a:solidFill>
                  <a:latin typeface="ITC Avant Garde Gothic"/>
                  <a:ea typeface="ITC Avant Garde Gothic"/>
                  <a:cs typeface="ITC Avant Garde Gothic"/>
                  <a:sym typeface="ITC Avant Garde Gothic"/>
                </a:rPr>
                <a:t> </a:t>
              </a:r>
              <a:r>
                <a:rPr lang="en-US" sz="1680" spc="-50" strike="noStrike" u="none">
                  <a:solidFill>
                    <a:srgbClr val="6B7A91"/>
                  </a:solidFill>
                  <a:latin typeface="ITC Avant Garde Gothic"/>
                  <a:ea typeface="ITC Avant Garde Gothic"/>
                  <a:cs typeface="ITC Avant Garde Gothic"/>
                  <a:sym typeface="ITC Avant Garde Gothic"/>
                </a:rPr>
                <a:t>yêu cầu từ trình duyệt người dùng</a:t>
              </a:r>
            </a:p>
            <a:p>
              <a:pPr algn="l">
                <a:lnSpc>
                  <a:spcPts val="2353"/>
                </a:lnSpc>
                <a:spcBef>
                  <a:spcPct val="0"/>
                </a:spcBef>
              </a:pPr>
              <a:r>
                <a:rPr lang="en-US" sz="1680" spc="-50" strike="noStrike" u="none">
                  <a:solidFill>
                    <a:srgbClr val="6B7A91"/>
                  </a:solidFill>
                  <a:latin typeface="ITC Avant Garde Gothic"/>
                  <a:ea typeface="ITC Avant Garde Gothic"/>
                  <a:cs typeface="ITC Avant Garde Gothic"/>
                  <a:sym typeface="ITC Avant Garde Gothic"/>
                </a:rPr>
                <a:t>A</a:t>
              </a:r>
              <a:r>
                <a:rPr lang="en-US" sz="1680" spc="-50" strike="noStrike" u="none">
                  <a:solidFill>
                    <a:srgbClr val="6B7A91"/>
                  </a:solidFill>
                  <a:latin typeface="ITC Avant Garde Gothic"/>
                  <a:ea typeface="ITC Avant Garde Gothic"/>
                  <a:cs typeface="ITC Avant Garde Gothic"/>
                  <a:sym typeface="ITC Avant Garde Gothic"/>
                </a:rPr>
                <a:t>6 – Vulnerable &amp; Outdated Components: Sử dụng thư viện hoặc thành phần lỗi thời, có lỗ hổng</a:t>
              </a:r>
            </a:p>
            <a:p>
              <a:pPr algn="l">
                <a:lnSpc>
                  <a:spcPts val="2353"/>
                </a:lnSpc>
                <a:spcBef>
                  <a:spcPct val="0"/>
                </a:spcBef>
              </a:pPr>
              <a:r>
                <a:rPr lang="en-US" sz="1680" spc="-50" strike="noStrike" u="none">
                  <a:solidFill>
                    <a:srgbClr val="6B7A91"/>
                  </a:solidFill>
                  <a:latin typeface="ITC Avant Garde Gothic"/>
                  <a:ea typeface="ITC Avant Garde Gothic"/>
                  <a:cs typeface="ITC Avant Garde Gothic"/>
                  <a:sym typeface="ITC Avant Garde Gothic"/>
                </a:rPr>
                <a:t>A7 – Insecure Authentication: Xác thực người dùng không an toàn</a:t>
              </a:r>
            </a:p>
            <a:p>
              <a:pPr algn="l">
                <a:lnSpc>
                  <a:spcPts val="2353"/>
                </a:lnSpc>
                <a:spcBef>
                  <a:spcPct val="0"/>
                </a:spcBef>
              </a:pPr>
              <a:r>
                <a:rPr lang="en-US" sz="1680" spc="-50" strike="noStrike" u="none">
                  <a:solidFill>
                    <a:srgbClr val="6B7A91"/>
                  </a:solidFill>
                  <a:latin typeface="ITC Avant Garde Gothic"/>
                  <a:ea typeface="ITC Avant Garde Gothic"/>
                  <a:cs typeface="ITC Avant Garde Gothic"/>
                  <a:sym typeface="ITC Avant Garde Gothic"/>
                </a:rPr>
                <a:t>A8 – Insecure Deserialization: Giải tuần tự dữ liệu không an toàn</a:t>
              </a:r>
            </a:p>
            <a:p>
              <a:pPr algn="l">
                <a:lnSpc>
                  <a:spcPts val="2353"/>
                </a:lnSpc>
                <a:spcBef>
                  <a:spcPct val="0"/>
                </a:spcBef>
              </a:pPr>
              <a:r>
                <a:rPr lang="en-US" sz="1680" spc="-50" strike="noStrike" u="none">
                  <a:solidFill>
                    <a:srgbClr val="6B7A91"/>
                  </a:solidFill>
                  <a:latin typeface="ITC Avant Garde Gothic"/>
                  <a:ea typeface="ITC Avant Garde Gothic"/>
                  <a:cs typeface="ITC Avant Garde Gothic"/>
                  <a:sym typeface="ITC Avant Garde Gothic"/>
                </a:rPr>
                <a:t>A9 – Logging &amp; Monitoring Security: Ghi log và giám sát bảo mật không đầy đủ</a:t>
              </a:r>
            </a:p>
            <a:p>
              <a:pPr algn="l" marL="0" indent="0" lvl="0">
                <a:lnSpc>
                  <a:spcPts val="2353"/>
                </a:lnSpc>
                <a:spcBef>
                  <a:spcPct val="0"/>
                </a:spcBef>
              </a:pPr>
            </a:p>
          </p:txBody>
        </p:sp>
      </p:grpSp>
      <p:sp>
        <p:nvSpPr>
          <p:cNvPr name="TextBox 7" id="7"/>
          <p:cNvSpPr txBox="true"/>
          <p:nvPr/>
        </p:nvSpPr>
        <p:spPr>
          <a:xfrm rot="0">
            <a:off x="811466" y="3995442"/>
            <a:ext cx="2804444" cy="371871"/>
          </a:xfrm>
          <a:prstGeom prst="rect">
            <a:avLst/>
          </a:prstGeom>
        </p:spPr>
        <p:txBody>
          <a:bodyPr anchor="t" rtlCol="false" tIns="0" lIns="0" bIns="0" rIns="0">
            <a:spAutoFit/>
          </a:bodyPr>
          <a:lstStyle/>
          <a:p>
            <a:pPr algn="ctr">
              <a:lnSpc>
                <a:spcPts val="2406"/>
              </a:lnSpc>
              <a:spcBef>
                <a:spcPct val="0"/>
              </a:spcBef>
            </a:pPr>
            <a:r>
              <a:rPr lang="en-US" sz="2406" spc="-72">
                <a:solidFill>
                  <a:srgbClr val="000000"/>
                </a:solidFill>
                <a:latin typeface="ITC Avant Garde Gothic"/>
                <a:ea typeface="ITC Avant Garde Gothic"/>
                <a:cs typeface="ITC Avant Garde Gothic"/>
                <a:sym typeface="ITC Avant Garde Gothic"/>
              </a:rPr>
              <a:t>2.2 Phạm vi kiểm thử</a:t>
            </a:r>
          </a:p>
        </p:txBody>
      </p:sp>
      <p:sp>
        <p:nvSpPr>
          <p:cNvPr name="TextBox 8" id="8"/>
          <p:cNvSpPr txBox="true"/>
          <p:nvPr/>
        </p:nvSpPr>
        <p:spPr>
          <a:xfrm rot="0">
            <a:off x="811466" y="4357788"/>
            <a:ext cx="16208602" cy="1910701"/>
          </a:xfrm>
          <a:prstGeom prst="rect">
            <a:avLst/>
          </a:prstGeom>
        </p:spPr>
        <p:txBody>
          <a:bodyPr anchor="t" rtlCol="false" tIns="0" lIns="0" bIns="0" rIns="0">
            <a:spAutoFit/>
          </a:bodyPr>
          <a:lstStyle/>
          <a:p>
            <a:pPr algn="l">
              <a:lnSpc>
                <a:spcPts val="1872"/>
              </a:lnSpc>
              <a:spcBef>
                <a:spcPct val="0"/>
              </a:spcBef>
            </a:pPr>
            <a:r>
              <a:rPr lang="en-US" sz="1872" spc="-56">
                <a:solidFill>
                  <a:srgbClr val="000000"/>
                </a:solidFill>
                <a:latin typeface="ITC Avant Garde Gothic"/>
                <a:ea typeface="ITC Avant Garde Gothic"/>
                <a:cs typeface="ITC Avant Garde Gothic"/>
                <a:sym typeface="ITC Avant Garde Gothic"/>
              </a:rPr>
              <a:t>A. Phạm vi trong kiểm thử (In-scope):</a:t>
            </a:r>
          </a:p>
          <a:p>
            <a:pPr algn="l">
              <a:lnSpc>
                <a:spcPts val="1872"/>
              </a:lnSpc>
              <a:spcBef>
                <a:spcPct val="0"/>
              </a:spcBef>
            </a:pPr>
            <a:r>
              <a:rPr lang="en-US" sz="1872" spc="-56">
                <a:solidFill>
                  <a:srgbClr val="000000"/>
                </a:solidFill>
                <a:latin typeface="ITC Avant Garde Gothic"/>
                <a:ea typeface="ITC Avant Garde Gothic"/>
                <a:cs typeface="ITC Avant Garde Gothic"/>
                <a:sym typeface="ITC Avant Garde Gothic"/>
              </a:rPr>
              <a:t>Phương pháp tiếp cận: Sử dụng thuần túy Kiểm thử Hộp Trắng (White-box Testing) dựa trên mã nguồn (Source Code).</a:t>
            </a:r>
          </a:p>
          <a:p>
            <a:pPr algn="l">
              <a:lnSpc>
                <a:spcPts val="1872"/>
              </a:lnSpc>
              <a:spcBef>
                <a:spcPct val="0"/>
              </a:spcBef>
            </a:pPr>
            <a:r>
              <a:rPr lang="en-US" sz="1872" spc="-56">
                <a:solidFill>
                  <a:srgbClr val="000000"/>
                </a:solidFill>
                <a:latin typeface="ITC Avant Garde Gothic"/>
                <a:ea typeface="ITC Avant Garde Gothic"/>
                <a:cs typeface="ITC Avant Garde Gothic"/>
                <a:sym typeface="ITC Avant Garde Gothic"/>
              </a:rPr>
              <a:t>Mức độ kiểm thử: Mức Đơn vị (Unit Testing) sử dụng framework JUnit 5.</a:t>
            </a:r>
          </a:p>
          <a:p>
            <a:pPr algn="l">
              <a:lnSpc>
                <a:spcPts val="1872"/>
              </a:lnSpc>
              <a:spcBef>
                <a:spcPct val="0"/>
              </a:spcBef>
            </a:pPr>
            <a:r>
              <a:rPr lang="en-US" sz="1872" spc="-56">
                <a:solidFill>
                  <a:srgbClr val="000000"/>
                </a:solidFill>
                <a:latin typeface="ITC Avant Garde Gothic"/>
                <a:ea typeface="ITC Avant Garde Gothic"/>
                <a:cs typeface="ITC Avant Garde Gothic"/>
                <a:sym typeface="ITC Avant Garde Gothic"/>
              </a:rPr>
              <a:t>Tiêu chuẩn đo lường: Áp dụng bắt buộc 4 tiêu chuẩn độ bao phủ mã lệnh: Dòng lệnh (Statement), Điều kiện (Decision), Mệnh đề/Nhánh (Branch), và Đường dẫn (Path). Bổ sung kỹ thuật phân tích biên với vòng lặp (Loop Boundary Testing).</a:t>
            </a:r>
          </a:p>
          <a:p>
            <a:pPr algn="l">
              <a:lnSpc>
                <a:spcPts val="1872"/>
              </a:lnSpc>
              <a:spcBef>
                <a:spcPct val="0"/>
              </a:spcBef>
            </a:pPr>
            <a:r>
              <a:rPr lang="en-US" sz="1872" spc="-56">
                <a:solidFill>
                  <a:srgbClr val="000000"/>
                </a:solidFill>
                <a:latin typeface="ITC Avant Garde Gothic"/>
                <a:ea typeface="ITC Avant Garde Gothic"/>
                <a:cs typeface="ITC Avant Garde Gothic"/>
                <a:sym typeface="ITC Avant Garde Gothic"/>
              </a:rPr>
              <a:t>Công cụ áp dụng: Dùng JaCoCo để đo lường tự động và xuất báo cáo độ bao phủ cho các đoạn code được kiểm thử.</a:t>
            </a:r>
          </a:p>
          <a:p>
            <a:pPr algn="l">
              <a:lnSpc>
                <a:spcPts val="1872"/>
              </a:lnSpc>
              <a:spcBef>
                <a:spcPct val="0"/>
              </a:spcBef>
            </a:pPr>
            <a:r>
              <a:rPr lang="en-US" sz="1872" spc="-56">
                <a:solidFill>
                  <a:srgbClr val="000000"/>
                </a:solidFill>
                <a:latin typeface="ITC Avant Garde Gothic"/>
                <a:ea typeface="ITC Avant Garde Gothic"/>
                <a:cs typeface="ITC Avant Garde Gothic"/>
                <a:sym typeface="ITC Avant Garde Gothic"/>
              </a:rPr>
              <a:t>B. Phạm vi ngoài kiểm thử (Out-scope):</a:t>
            </a:r>
          </a:p>
          <a:p>
            <a:pPr algn="l">
              <a:lnSpc>
                <a:spcPts val="1872"/>
              </a:lnSpc>
              <a:spcBef>
                <a:spcPct val="0"/>
              </a:spcBef>
            </a:pPr>
            <a:r>
              <a:rPr lang="en-US" sz="1872" spc="-56">
                <a:solidFill>
                  <a:srgbClr val="000000"/>
                </a:solidFill>
                <a:latin typeface="ITC Avant Garde Gothic"/>
                <a:ea typeface="ITC Avant Garde Gothic"/>
                <a:cs typeface="ITC Avant Garde Gothic"/>
                <a:sym typeface="ITC Avant Garde Gothic"/>
              </a:rPr>
              <a:t>Không thực hiện Kiểm thử Hộp Đen (Black-box Testing) hoặc Kiểm thử Chấp nhận (UAT) cho giao diện người dùng (UI) của OWASP WebGoat.</a:t>
            </a:r>
          </a:p>
        </p:txBody>
      </p:sp>
      <p:grpSp>
        <p:nvGrpSpPr>
          <p:cNvPr name="Group 9" id="9"/>
          <p:cNvGrpSpPr/>
          <p:nvPr/>
        </p:nvGrpSpPr>
        <p:grpSpPr>
          <a:xfrm rot="0">
            <a:off x="811466" y="6449262"/>
            <a:ext cx="3367921" cy="1181055"/>
            <a:chOff x="0" y="0"/>
            <a:chExt cx="4490561" cy="1574741"/>
          </a:xfrm>
        </p:grpSpPr>
        <p:sp>
          <p:nvSpPr>
            <p:cNvPr name="TextBox 10" id="10"/>
            <p:cNvSpPr txBox="true"/>
            <p:nvPr/>
          </p:nvSpPr>
          <p:spPr>
            <a:xfrm rot="0">
              <a:off x="0" y="-9525"/>
              <a:ext cx="4490561" cy="900510"/>
            </a:xfrm>
            <a:prstGeom prst="rect">
              <a:avLst/>
            </a:prstGeom>
          </p:spPr>
          <p:txBody>
            <a:bodyPr anchor="t" rtlCol="false" tIns="0" lIns="0" bIns="0" rIns="0">
              <a:spAutoFit/>
            </a:bodyPr>
            <a:lstStyle/>
            <a:p>
              <a:pPr algn="l" marL="0" indent="0" lvl="0">
                <a:lnSpc>
                  <a:spcPts val="2405"/>
                </a:lnSpc>
                <a:spcBef>
                  <a:spcPct val="0"/>
                </a:spcBef>
              </a:pPr>
              <a:r>
                <a:rPr lang="en-US" sz="2405" spc="-72">
                  <a:solidFill>
                    <a:srgbClr val="2E3C54"/>
                  </a:solidFill>
                  <a:latin typeface="ITC Avant Garde Gothic"/>
                  <a:ea typeface="ITC Avant Garde Gothic"/>
                  <a:cs typeface="ITC Avant Garde Gothic"/>
                  <a:sym typeface="ITC Avant Garde Gothic"/>
                </a:rPr>
                <a:t>2.3. Đối</a:t>
              </a:r>
              <a:r>
                <a:rPr lang="en-US" sz="2405" spc="-72" strike="noStrike" u="none">
                  <a:solidFill>
                    <a:srgbClr val="2E3C54"/>
                  </a:solidFill>
                  <a:latin typeface="ITC Avant Garde Gothic"/>
                  <a:ea typeface="ITC Avant Garde Gothic"/>
                  <a:cs typeface="ITC Avant Garde Gothic"/>
                  <a:sym typeface="ITC Avant Garde Gothic"/>
                </a:rPr>
                <a:t> </a:t>
              </a:r>
              <a:r>
                <a:rPr lang="en-US" sz="2405" spc="-72" strike="noStrike" u="none">
                  <a:solidFill>
                    <a:srgbClr val="2E3C54"/>
                  </a:solidFill>
                  <a:latin typeface="ITC Avant Garde Gothic"/>
                  <a:ea typeface="ITC Avant Garde Gothic"/>
                  <a:cs typeface="ITC Avant Garde Gothic"/>
                  <a:sym typeface="ITC Avant Garde Gothic"/>
                </a:rPr>
                <a:t>tượng</a:t>
              </a:r>
              <a:r>
                <a:rPr lang="en-US" sz="2405" spc="-72" strike="noStrike" u="none">
                  <a:solidFill>
                    <a:srgbClr val="2E3C54"/>
                  </a:solidFill>
                  <a:latin typeface="ITC Avant Garde Gothic"/>
                  <a:ea typeface="ITC Avant Garde Gothic"/>
                  <a:cs typeface="ITC Avant Garde Gothic"/>
                  <a:sym typeface="ITC Avant Garde Gothic"/>
                </a:rPr>
                <a:t> kiểm thử</a:t>
              </a:r>
              <a:r>
                <a:rPr lang="en-US" sz="2405" spc="-72" strike="noStrike" u="none">
                  <a:solidFill>
                    <a:srgbClr val="2E3C54"/>
                  </a:solidFill>
                  <a:latin typeface="ITC Avant Garde Gothic"/>
                  <a:ea typeface="ITC Avant Garde Gothic"/>
                  <a:cs typeface="ITC Avant Garde Gothic"/>
                  <a:sym typeface="ITC Avant Garde Gothic"/>
                </a:rPr>
                <a:t> </a:t>
              </a:r>
            </a:p>
            <a:p>
              <a:pPr algn="l" marL="0" indent="0" lvl="0">
                <a:lnSpc>
                  <a:spcPts val="2405"/>
                </a:lnSpc>
                <a:spcBef>
                  <a:spcPct val="0"/>
                </a:spcBef>
              </a:pPr>
            </a:p>
          </p:txBody>
        </p:sp>
        <p:sp>
          <p:nvSpPr>
            <p:cNvPr name="TextBox 11" id="11"/>
            <p:cNvSpPr txBox="true"/>
            <p:nvPr/>
          </p:nvSpPr>
          <p:spPr>
            <a:xfrm rot="0">
              <a:off x="0" y="1437677"/>
              <a:ext cx="3337373" cy="137063"/>
            </a:xfrm>
            <a:prstGeom prst="rect">
              <a:avLst/>
            </a:prstGeom>
          </p:spPr>
          <p:txBody>
            <a:bodyPr anchor="t" rtlCol="false" tIns="0" lIns="0" bIns="0" rIns="0">
              <a:spAutoFit/>
            </a:bodyPr>
            <a:lstStyle/>
            <a:p>
              <a:pPr algn="l" marL="0" indent="0" lvl="0">
                <a:lnSpc>
                  <a:spcPts val="883"/>
                </a:lnSpc>
              </a:pPr>
            </a:p>
          </p:txBody>
        </p:sp>
      </p:grpSp>
      <p:sp>
        <p:nvSpPr>
          <p:cNvPr name="TextBox 12" id="12"/>
          <p:cNvSpPr txBox="true"/>
          <p:nvPr/>
        </p:nvSpPr>
        <p:spPr>
          <a:xfrm rot="0">
            <a:off x="811466" y="6777710"/>
            <a:ext cx="16208602" cy="3380762"/>
          </a:xfrm>
          <a:prstGeom prst="rect">
            <a:avLst/>
          </a:prstGeom>
        </p:spPr>
        <p:txBody>
          <a:bodyPr anchor="t" rtlCol="false" tIns="0" lIns="0" bIns="0" rIns="0">
            <a:spAutoFit/>
          </a:bodyPr>
          <a:lstStyle/>
          <a:p>
            <a:pPr algn="l">
              <a:lnSpc>
                <a:spcPts val="2225"/>
              </a:lnSpc>
              <a:spcBef>
                <a:spcPct val="0"/>
              </a:spcBef>
            </a:pPr>
            <a:r>
              <a:rPr lang="en-US" sz="2225" spc="-66">
                <a:solidFill>
                  <a:srgbClr val="000000"/>
                </a:solidFill>
                <a:latin typeface="ITC Avant Garde Gothic"/>
                <a:ea typeface="ITC Avant Garde Gothic"/>
                <a:cs typeface="ITC Avant Garde Gothic"/>
                <a:sym typeface="ITC Avant Garde Gothic"/>
              </a:rPr>
              <a:t> Đối tượng kiểm thử (System Under Test - SUT) là các Class/Method (Lớp/Hàm) được viết bằng ngôn ngữ Java thực thi nghiệp vụ lõi mô phỏng lỗ hổng</a:t>
            </a:r>
          </a:p>
          <a:p>
            <a:pPr algn="l">
              <a:lnSpc>
                <a:spcPts val="2225"/>
              </a:lnSpc>
              <a:spcBef>
                <a:spcPct val="0"/>
              </a:spcBef>
            </a:pPr>
            <a:r>
              <a:rPr lang="en-US" sz="2225" spc="-66">
                <a:solidFill>
                  <a:srgbClr val="000000"/>
                </a:solidFill>
                <a:latin typeface="ITC Avant Garde Gothic"/>
                <a:ea typeface="ITC Avant Garde Gothic"/>
                <a:cs typeface="ITC Avant Garde Gothic"/>
                <a:sym typeface="ITC Avant Garde Gothic"/>
              </a:rPr>
              <a:t> Lớp LoginService.java (A7 - Authentication Failures):</a:t>
            </a:r>
          </a:p>
          <a:p>
            <a:pPr algn="l">
              <a:lnSpc>
                <a:spcPts val="2225"/>
              </a:lnSpc>
              <a:spcBef>
                <a:spcPct val="0"/>
              </a:spcBef>
            </a:pPr>
            <a:r>
              <a:rPr lang="en-US" sz="2225" spc="-66">
                <a:solidFill>
                  <a:srgbClr val="000000"/>
                </a:solidFill>
                <a:latin typeface="ITC Avant Garde Gothic"/>
                <a:ea typeface="ITC Avant Garde Gothic"/>
                <a:cs typeface="ITC Avant Garde Gothic"/>
                <a:sym typeface="ITC Avant Garde Gothic"/>
              </a:rPr>
              <a:t>Hàm mục tiêu: public String login(String username, String password)</a:t>
            </a:r>
          </a:p>
          <a:p>
            <a:pPr algn="l">
              <a:lnSpc>
                <a:spcPts val="2225"/>
              </a:lnSpc>
              <a:spcBef>
                <a:spcPct val="0"/>
              </a:spcBef>
            </a:pPr>
            <a:r>
              <a:rPr lang="en-US" sz="2225" spc="-66">
                <a:solidFill>
                  <a:srgbClr val="000000"/>
                </a:solidFill>
                <a:latin typeface="ITC Avant Garde Gothic"/>
                <a:ea typeface="ITC Avant Garde Gothic"/>
                <a:cs typeface="ITC Avant Garde Gothic"/>
                <a:sym typeface="ITC Avant Garde Gothic"/>
              </a:rPr>
              <a:t> Đặc điểm: Chứa 3 điểm quyết định (Decision Nodes) tạo ra 4 đường dẫn (Paths) độc lập, là đối tượng chuẩn để tính toán độ bao phủ nhánh.</a:t>
            </a:r>
          </a:p>
          <a:p>
            <a:pPr algn="l">
              <a:lnSpc>
                <a:spcPts val="2225"/>
              </a:lnSpc>
              <a:spcBef>
                <a:spcPct val="0"/>
              </a:spcBef>
            </a:pPr>
            <a:r>
              <a:rPr lang="en-US" sz="2225" spc="-66">
                <a:solidFill>
                  <a:srgbClr val="000000"/>
                </a:solidFill>
                <a:latin typeface="ITC Avant Garde Gothic"/>
                <a:ea typeface="ITC Avant Garde Gothic"/>
                <a:cs typeface="ITC Avant Garde Gothic"/>
                <a:sym typeface="ITC Avant Garde Gothic"/>
              </a:rPr>
              <a:t> Lớp SqlInjectionService.java (A3 - SQL Injection):</a:t>
            </a:r>
          </a:p>
          <a:p>
            <a:pPr algn="l">
              <a:lnSpc>
                <a:spcPts val="2225"/>
              </a:lnSpc>
              <a:spcBef>
                <a:spcPct val="0"/>
              </a:spcBef>
            </a:pPr>
            <a:r>
              <a:rPr lang="en-US" sz="2225" spc="-66">
                <a:solidFill>
                  <a:srgbClr val="000000"/>
                </a:solidFill>
                <a:latin typeface="ITC Avant Garde Gothic"/>
                <a:ea typeface="ITC Avant Garde Gothic"/>
                <a:cs typeface="ITC Avant Garde Gothic"/>
                <a:sym typeface="ITC Avant Garde Gothic"/>
              </a:rPr>
              <a:t> Hàm mục tiêu: public String getUserData(String userId)</a:t>
            </a:r>
          </a:p>
          <a:p>
            <a:pPr algn="l">
              <a:lnSpc>
                <a:spcPts val="2225"/>
              </a:lnSpc>
              <a:spcBef>
                <a:spcPct val="0"/>
              </a:spcBef>
            </a:pPr>
            <a:r>
              <a:rPr lang="en-US" sz="2225" spc="-66">
                <a:solidFill>
                  <a:srgbClr val="000000"/>
                </a:solidFill>
                <a:latin typeface="ITC Avant Garde Gothic"/>
                <a:ea typeface="ITC Avant Garde Gothic"/>
                <a:cs typeface="ITC Avant Garde Gothic"/>
                <a:sym typeface="ITC Avant Garde Gothic"/>
              </a:rPr>
              <a:t>Đặc điểm: Chứa 2 điểm quyết định với rẽ nhánh kiểm tra Payload SQLi và Input rỗng.</a:t>
            </a:r>
          </a:p>
          <a:p>
            <a:pPr algn="l">
              <a:lnSpc>
                <a:spcPts val="2225"/>
              </a:lnSpc>
              <a:spcBef>
                <a:spcPct val="0"/>
              </a:spcBef>
            </a:pPr>
            <a:r>
              <a:rPr lang="en-US" sz="2225" spc="-66">
                <a:solidFill>
                  <a:srgbClr val="000000"/>
                </a:solidFill>
                <a:latin typeface="ITC Avant Garde Gothic"/>
                <a:ea typeface="ITC Avant Garde Gothic"/>
                <a:cs typeface="ITC Avant Garde Gothic"/>
                <a:sym typeface="ITC Avant Garde Gothic"/>
              </a:rPr>
              <a:t>Lớp HijackSessionService.java(A1 - Hijack Session):</a:t>
            </a:r>
          </a:p>
          <a:p>
            <a:pPr algn="l">
              <a:lnSpc>
                <a:spcPts val="2225"/>
              </a:lnSpc>
              <a:spcBef>
                <a:spcPct val="0"/>
              </a:spcBef>
            </a:pPr>
            <a:r>
              <a:rPr lang="en-US" sz="2225" spc="-66">
                <a:solidFill>
                  <a:srgbClr val="000000"/>
                </a:solidFill>
                <a:latin typeface="ITC Avant Garde Gothic"/>
                <a:ea typeface="ITC Avant Garde Gothic"/>
                <a:cs typeface="ITC Avant Garde Gothic"/>
                <a:sym typeface="ITC Avant Garde Gothic"/>
              </a:rPr>
              <a:t>Hàm mục tiêu: public long findGap(List&lt;Long&gt; sequences)</a:t>
            </a:r>
          </a:p>
          <a:p>
            <a:pPr algn="l">
              <a:lnSpc>
                <a:spcPts val="2225"/>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1459335" y="1881696"/>
            <a:ext cx="5704952" cy="4970409"/>
          </a:xfrm>
          <a:custGeom>
            <a:avLst/>
            <a:gdLst/>
            <a:ahLst/>
            <a:cxnLst/>
            <a:rect r="r" b="b" t="t" l="l"/>
            <a:pathLst>
              <a:path h="4970409" w="5704952">
                <a:moveTo>
                  <a:pt x="0" y="0"/>
                </a:moveTo>
                <a:lnTo>
                  <a:pt x="5704953" y="0"/>
                </a:lnTo>
                <a:lnTo>
                  <a:pt x="5704953" y="4970409"/>
                </a:lnTo>
                <a:lnTo>
                  <a:pt x="0" y="4970409"/>
                </a:lnTo>
                <a:lnTo>
                  <a:pt x="0" y="0"/>
                </a:lnTo>
                <a:close/>
              </a:path>
            </a:pathLst>
          </a:custGeom>
          <a:blipFill>
            <a:blip r:embed="rId2"/>
            <a:stretch>
              <a:fillRect l="0" t="0" r="0" b="0"/>
            </a:stretch>
          </a:blipFill>
        </p:spPr>
      </p:sp>
      <p:sp>
        <p:nvSpPr>
          <p:cNvPr name="Freeform 3" id="3"/>
          <p:cNvSpPr/>
          <p:nvPr/>
        </p:nvSpPr>
        <p:spPr>
          <a:xfrm flipH="false" flipV="false" rot="0">
            <a:off x="8944669" y="490378"/>
            <a:ext cx="6036558" cy="7994020"/>
          </a:xfrm>
          <a:custGeom>
            <a:avLst/>
            <a:gdLst/>
            <a:ahLst/>
            <a:cxnLst/>
            <a:rect r="r" b="b" t="t" l="l"/>
            <a:pathLst>
              <a:path h="7994020" w="6036558">
                <a:moveTo>
                  <a:pt x="0" y="0"/>
                </a:moveTo>
                <a:lnTo>
                  <a:pt x="6036558" y="0"/>
                </a:lnTo>
                <a:lnTo>
                  <a:pt x="6036558" y="7994020"/>
                </a:lnTo>
                <a:lnTo>
                  <a:pt x="0" y="7994020"/>
                </a:lnTo>
                <a:lnTo>
                  <a:pt x="0" y="0"/>
                </a:lnTo>
                <a:close/>
              </a:path>
            </a:pathLst>
          </a:custGeom>
          <a:blipFill>
            <a:blip r:embed="rId3"/>
            <a:stretch>
              <a:fillRect l="0" t="0" r="0" b="0"/>
            </a:stretch>
          </a:blipFill>
        </p:spPr>
      </p:sp>
      <p:grpSp>
        <p:nvGrpSpPr>
          <p:cNvPr name="Group 4" id="4"/>
          <p:cNvGrpSpPr/>
          <p:nvPr/>
        </p:nvGrpSpPr>
        <p:grpSpPr>
          <a:xfrm rot="0">
            <a:off x="1028700" y="490378"/>
            <a:ext cx="7683292" cy="2368763"/>
            <a:chOff x="0" y="0"/>
            <a:chExt cx="10244390" cy="3158350"/>
          </a:xfrm>
        </p:grpSpPr>
        <p:sp>
          <p:nvSpPr>
            <p:cNvPr name="TextBox 5" id="5"/>
            <p:cNvSpPr txBox="true"/>
            <p:nvPr/>
          </p:nvSpPr>
          <p:spPr>
            <a:xfrm rot="0">
              <a:off x="0" y="0"/>
              <a:ext cx="7429865" cy="1615735"/>
            </a:xfrm>
            <a:prstGeom prst="rect">
              <a:avLst/>
            </a:prstGeom>
          </p:spPr>
          <p:txBody>
            <a:bodyPr anchor="t" rtlCol="false" tIns="0" lIns="0" bIns="0" rIns="0">
              <a:spAutoFit/>
            </a:bodyPr>
            <a:lstStyle/>
            <a:p>
              <a:pPr algn="l" marL="0" indent="0" lvl="0">
                <a:lnSpc>
                  <a:spcPts val="2999"/>
                </a:lnSpc>
                <a:spcBef>
                  <a:spcPct val="0"/>
                </a:spcBef>
              </a:pPr>
              <a:r>
                <a:rPr lang="en-US" sz="2999" spc="-89" strike="noStrike" u="none">
                  <a:solidFill>
                    <a:srgbClr val="2E3C54"/>
                  </a:solidFill>
                  <a:latin typeface="ITC Avant Garde Gothic"/>
                  <a:ea typeface="ITC Avant Garde Gothic"/>
                  <a:cs typeface="ITC Avant Garde Gothic"/>
                  <a:sym typeface="ITC Avant Garde Gothic"/>
                </a:rPr>
                <a:t>C</a:t>
              </a:r>
              <a:r>
                <a:rPr lang="en-US" sz="2999" spc="-89" strike="noStrike" u="none">
                  <a:solidFill>
                    <a:srgbClr val="2E3C54"/>
                  </a:solidFill>
                  <a:latin typeface="ITC Avant Garde Gothic"/>
                  <a:ea typeface="ITC Avant Garde Gothic"/>
                  <a:cs typeface="ITC Avant Garde Gothic"/>
                  <a:sym typeface="ITC Avant Garde Gothic"/>
                </a:rPr>
                <a:t>HƯƠNG</a:t>
              </a:r>
              <a:r>
                <a:rPr lang="en-US" sz="2999" spc="-89" strike="noStrike" u="none">
                  <a:solidFill>
                    <a:srgbClr val="2E3C54"/>
                  </a:solidFill>
                  <a:latin typeface="ITC Avant Garde Gothic"/>
                  <a:ea typeface="ITC Avant Garde Gothic"/>
                  <a:cs typeface="ITC Avant Garde Gothic"/>
                  <a:sym typeface="ITC Avant Garde Gothic"/>
                </a:rPr>
                <a:t> </a:t>
              </a:r>
              <a:r>
                <a:rPr lang="en-US" sz="2999" spc="-89" strike="noStrike" u="none">
                  <a:solidFill>
                    <a:srgbClr val="2E3C54"/>
                  </a:solidFill>
                  <a:latin typeface="ITC Avant Garde Gothic"/>
                  <a:ea typeface="ITC Avant Garde Gothic"/>
                  <a:cs typeface="ITC Avant Garde Gothic"/>
                  <a:sym typeface="ITC Avant Garde Gothic"/>
                </a:rPr>
                <a:t>3:</a:t>
              </a:r>
              <a:r>
                <a:rPr lang="en-US" sz="2999" spc="-89" strike="noStrike" u="none">
                  <a:solidFill>
                    <a:srgbClr val="2E3C54"/>
                  </a:solidFill>
                  <a:latin typeface="ITC Avant Garde Gothic"/>
                  <a:ea typeface="ITC Avant Garde Gothic"/>
                  <a:cs typeface="ITC Avant Garde Gothic"/>
                  <a:sym typeface="ITC Avant Garde Gothic"/>
                </a:rPr>
                <a:t> </a:t>
              </a:r>
              <a:r>
                <a:rPr lang="en-US" sz="2999" spc="-89" strike="noStrike" u="none">
                  <a:solidFill>
                    <a:srgbClr val="2E3C54"/>
                  </a:solidFill>
                  <a:latin typeface="ITC Avant Garde Gothic"/>
                  <a:ea typeface="ITC Avant Garde Gothic"/>
                  <a:cs typeface="ITC Avant Garde Gothic"/>
                  <a:sym typeface="ITC Avant Garde Gothic"/>
                </a:rPr>
                <a:t>KẾ HOẠCH KIỂM THỬ</a:t>
              </a:r>
            </a:p>
            <a:p>
              <a:pPr algn="l" marL="0" indent="0" lvl="0">
                <a:lnSpc>
                  <a:spcPts val="2999"/>
                </a:lnSpc>
                <a:spcBef>
                  <a:spcPct val="0"/>
                </a:spcBef>
              </a:pPr>
            </a:p>
          </p:txBody>
        </p:sp>
        <p:sp>
          <p:nvSpPr>
            <p:cNvPr name="TextBox 6" id="6"/>
            <p:cNvSpPr txBox="true"/>
            <p:nvPr/>
          </p:nvSpPr>
          <p:spPr>
            <a:xfrm rot="0">
              <a:off x="0" y="2769750"/>
              <a:ext cx="10244390" cy="388600"/>
            </a:xfrm>
            <a:prstGeom prst="rect">
              <a:avLst/>
            </a:prstGeom>
          </p:spPr>
          <p:txBody>
            <a:bodyPr anchor="t" rtlCol="false" tIns="0" lIns="0" bIns="0" rIns="0">
              <a:spAutoFit/>
            </a:bodyPr>
            <a:lstStyle/>
            <a:p>
              <a:pPr algn="l" marL="0" indent="0" lvl="0">
                <a:lnSpc>
                  <a:spcPts val="2077"/>
                </a:lnSpc>
                <a:spcBef>
                  <a:spcPct val="0"/>
                </a:spcBef>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1704093" y="4696835"/>
            <a:ext cx="9725907" cy="4561465"/>
          </a:xfrm>
          <a:custGeom>
            <a:avLst/>
            <a:gdLst/>
            <a:ahLst/>
            <a:cxnLst/>
            <a:rect r="r" b="b" t="t" l="l"/>
            <a:pathLst>
              <a:path h="4561465" w="9725907">
                <a:moveTo>
                  <a:pt x="0" y="0"/>
                </a:moveTo>
                <a:lnTo>
                  <a:pt x="9725907" y="0"/>
                </a:lnTo>
                <a:lnTo>
                  <a:pt x="9725907" y="4561465"/>
                </a:lnTo>
                <a:lnTo>
                  <a:pt x="0" y="4561465"/>
                </a:lnTo>
                <a:lnTo>
                  <a:pt x="0" y="0"/>
                </a:lnTo>
                <a:close/>
              </a:path>
            </a:pathLst>
          </a:custGeom>
          <a:blipFill>
            <a:blip r:embed="rId2"/>
            <a:stretch>
              <a:fillRect l="0" t="-15363" r="0" b="-15363"/>
            </a:stretch>
          </a:blipFill>
        </p:spPr>
      </p:sp>
      <p:grpSp>
        <p:nvGrpSpPr>
          <p:cNvPr name="Group 3" id="3"/>
          <p:cNvGrpSpPr/>
          <p:nvPr/>
        </p:nvGrpSpPr>
        <p:grpSpPr>
          <a:xfrm rot="0">
            <a:off x="666750" y="666750"/>
            <a:ext cx="4916828" cy="2721360"/>
            <a:chOff x="0" y="0"/>
            <a:chExt cx="6555770" cy="3628479"/>
          </a:xfrm>
        </p:grpSpPr>
        <p:sp>
          <p:nvSpPr>
            <p:cNvPr name="TextBox 4" id="4"/>
            <p:cNvSpPr txBox="true"/>
            <p:nvPr/>
          </p:nvSpPr>
          <p:spPr>
            <a:xfrm rot="0">
              <a:off x="0" y="0"/>
              <a:ext cx="6555770" cy="2310064"/>
            </a:xfrm>
            <a:prstGeom prst="rect">
              <a:avLst/>
            </a:prstGeom>
          </p:spPr>
          <p:txBody>
            <a:bodyPr anchor="t" rtlCol="false" tIns="0" lIns="0" bIns="0" rIns="0">
              <a:spAutoFit/>
            </a:bodyPr>
            <a:lstStyle/>
            <a:p>
              <a:pPr algn="l" marL="0" indent="0" lvl="0">
                <a:lnSpc>
                  <a:spcPts val="4288"/>
                </a:lnSpc>
                <a:spcBef>
                  <a:spcPct val="0"/>
                </a:spcBef>
              </a:pPr>
              <a:r>
                <a:rPr lang="en-US" sz="4288" spc="-128">
                  <a:solidFill>
                    <a:srgbClr val="2E3C54"/>
                  </a:solidFill>
                  <a:latin typeface="ITC Avant Garde Gothic"/>
                  <a:ea typeface="ITC Avant Garde Gothic"/>
                  <a:cs typeface="ITC Avant Garde Gothic"/>
                  <a:sym typeface="ITC Avant Garde Gothic"/>
                </a:rPr>
                <a:t>CHƯƠNG 4: THIẾT KẾ</a:t>
              </a:r>
              <a:r>
                <a:rPr lang="en-US" sz="4288" spc="-128" strike="noStrike" u="none">
                  <a:solidFill>
                    <a:srgbClr val="2E3C54"/>
                  </a:solidFill>
                  <a:latin typeface="ITC Avant Garde Gothic"/>
                  <a:ea typeface="ITC Avant Garde Gothic"/>
                  <a:cs typeface="ITC Avant Garde Gothic"/>
                  <a:sym typeface="ITC Avant Garde Gothic"/>
                </a:rPr>
                <a:t> </a:t>
              </a:r>
              <a:r>
                <a:rPr lang="en-US" sz="4288" spc="-128" strike="noStrike" u="none">
                  <a:solidFill>
                    <a:srgbClr val="2E3C54"/>
                  </a:solidFill>
                  <a:latin typeface="ITC Avant Garde Gothic"/>
                  <a:ea typeface="ITC Avant Garde Gothic"/>
                  <a:cs typeface="ITC Avant Garde Gothic"/>
                  <a:sym typeface="ITC Avant Garde Gothic"/>
                </a:rPr>
                <a:t>CA</a:t>
              </a:r>
              <a:r>
                <a:rPr lang="en-US" sz="4288" spc="-128" strike="noStrike" u="none">
                  <a:solidFill>
                    <a:srgbClr val="2E3C54"/>
                  </a:solidFill>
                  <a:latin typeface="ITC Avant Garde Gothic"/>
                  <a:ea typeface="ITC Avant Garde Gothic"/>
                  <a:cs typeface="ITC Avant Garde Gothic"/>
                  <a:sym typeface="ITC Avant Garde Gothic"/>
                </a:rPr>
                <a:t> </a:t>
              </a:r>
              <a:r>
                <a:rPr lang="en-US" sz="4288" spc="-128" strike="noStrike" u="none">
                  <a:solidFill>
                    <a:srgbClr val="2E3C54"/>
                  </a:solidFill>
                  <a:latin typeface="ITC Avant Garde Gothic"/>
                  <a:ea typeface="ITC Avant Garde Gothic"/>
                  <a:cs typeface="ITC Avant Garde Gothic"/>
                  <a:sym typeface="ITC Avant Garde Gothic"/>
                </a:rPr>
                <a:t>KIỂM</a:t>
              </a:r>
              <a:r>
                <a:rPr lang="en-US" sz="4288" spc="-128" strike="noStrike" u="none">
                  <a:solidFill>
                    <a:srgbClr val="2E3C54"/>
                  </a:solidFill>
                  <a:latin typeface="ITC Avant Garde Gothic"/>
                  <a:ea typeface="ITC Avant Garde Gothic"/>
                  <a:cs typeface="ITC Avant Garde Gothic"/>
                  <a:sym typeface="ITC Avant Garde Gothic"/>
                </a:rPr>
                <a:t> </a:t>
              </a:r>
              <a:r>
                <a:rPr lang="en-US" sz="4288" spc="-128" strike="noStrike" u="none">
                  <a:solidFill>
                    <a:srgbClr val="2E3C54"/>
                  </a:solidFill>
                  <a:latin typeface="ITC Avant Garde Gothic"/>
                  <a:ea typeface="ITC Avant Garde Gothic"/>
                  <a:cs typeface="ITC Avant Garde Gothic"/>
                  <a:sym typeface="ITC Avant Garde Gothic"/>
                </a:rPr>
                <a:t>THỬ</a:t>
              </a:r>
            </a:p>
            <a:p>
              <a:pPr algn="l" marL="0" indent="0" lvl="0">
                <a:lnSpc>
                  <a:spcPts val="4288"/>
                </a:lnSpc>
                <a:spcBef>
                  <a:spcPct val="0"/>
                </a:spcBef>
              </a:pPr>
            </a:p>
          </p:txBody>
        </p:sp>
        <p:sp>
          <p:nvSpPr>
            <p:cNvPr name="TextBox 5" id="5"/>
            <p:cNvSpPr txBox="true"/>
            <p:nvPr/>
          </p:nvSpPr>
          <p:spPr>
            <a:xfrm rot="0">
              <a:off x="0" y="3243189"/>
              <a:ext cx="4921934" cy="385290"/>
            </a:xfrm>
            <a:prstGeom prst="rect">
              <a:avLst/>
            </a:prstGeom>
          </p:spPr>
          <p:txBody>
            <a:bodyPr anchor="t" rtlCol="false" tIns="0" lIns="0" bIns="0" rIns="0">
              <a:spAutoFit/>
            </a:bodyPr>
            <a:lstStyle/>
            <a:p>
              <a:pPr algn="l" marL="0" indent="0" lvl="0">
                <a:lnSpc>
                  <a:spcPts val="2058"/>
                </a:lnSpc>
                <a:spcBef>
                  <a:spcPct val="0"/>
                </a:spcBef>
              </a:pPr>
            </a:p>
          </p:txBody>
        </p:sp>
      </p:grpSp>
      <p:sp>
        <p:nvSpPr>
          <p:cNvPr name="TextBox 6" id="6"/>
          <p:cNvSpPr txBox="true"/>
          <p:nvPr/>
        </p:nvSpPr>
        <p:spPr>
          <a:xfrm rot="0">
            <a:off x="1028700" y="2824053"/>
            <a:ext cx="11738415" cy="1898008"/>
          </a:xfrm>
          <a:prstGeom prst="rect">
            <a:avLst/>
          </a:prstGeom>
        </p:spPr>
        <p:txBody>
          <a:bodyPr anchor="t" rtlCol="false" tIns="0" lIns="0" bIns="0" rIns="0">
            <a:spAutoFit/>
          </a:bodyPr>
          <a:lstStyle/>
          <a:p>
            <a:pPr algn="l">
              <a:lnSpc>
                <a:spcPts val="2426"/>
              </a:lnSpc>
              <a:spcBef>
                <a:spcPct val="0"/>
              </a:spcBef>
            </a:pPr>
            <a:r>
              <a:rPr lang="en-US" sz="2426" spc="-72">
                <a:solidFill>
                  <a:srgbClr val="000000"/>
                </a:solidFill>
                <a:latin typeface="ITC Avant Garde Gothic"/>
                <a:ea typeface="ITC Avant Garde Gothic"/>
                <a:cs typeface="ITC Avant Garde Gothic"/>
                <a:sym typeface="ITC Avant Garde Gothic"/>
              </a:rPr>
              <a:t>Độ bao phủ đường dẫn = (Số đường dẫn đã được thực thi) / (Tổng số đường dẫn) × 100%</a:t>
            </a:r>
          </a:p>
          <a:p>
            <a:pPr algn="l">
              <a:lnSpc>
                <a:spcPts val="2426"/>
              </a:lnSpc>
              <a:spcBef>
                <a:spcPct val="0"/>
              </a:spcBef>
            </a:pPr>
            <a:r>
              <a:rPr lang="en-US" sz="2426" spc="-72">
                <a:solidFill>
                  <a:srgbClr val="000000"/>
                </a:solidFill>
                <a:latin typeface="ITC Avant Garde Gothic"/>
                <a:ea typeface="ITC Avant Garde Gothic"/>
                <a:cs typeface="ITC Avant Garde Gothic"/>
                <a:sym typeface="ITC Avant Garde Gothic"/>
              </a:rPr>
              <a:t>Số đường dẫn độc lập tối thiểu được tính theo công thức Cyclomatic Complexity (V(G)):</a:t>
            </a:r>
          </a:p>
          <a:p>
            <a:pPr algn="l">
              <a:lnSpc>
                <a:spcPts val="2426"/>
              </a:lnSpc>
              <a:spcBef>
                <a:spcPct val="0"/>
              </a:spcBef>
            </a:pPr>
            <a:r>
              <a:rPr lang="en-US" sz="2426" spc="-72">
                <a:solidFill>
                  <a:srgbClr val="000000"/>
                </a:solidFill>
                <a:latin typeface="ITC Avant Garde Gothic"/>
                <a:ea typeface="ITC Avant Garde Gothic"/>
                <a:cs typeface="ITC Avant Garde Gothic"/>
                <a:sym typeface="ITC Avant Garde Gothic"/>
              </a:rPr>
              <a:t>V(G) = E − N + 2 Trong đó: E = số cạnh (Edges), N = số nút (Nodes) trong Đồ thị luồng điều khiển</a:t>
            </a:r>
          </a:p>
        </p:txBody>
      </p:sp>
      <p:sp>
        <p:nvSpPr>
          <p:cNvPr name="TextBox 7" id="7"/>
          <p:cNvSpPr txBox="true"/>
          <p:nvPr/>
        </p:nvSpPr>
        <p:spPr>
          <a:xfrm rot="0">
            <a:off x="1028700" y="2295268"/>
            <a:ext cx="3209806" cy="538311"/>
          </a:xfrm>
          <a:prstGeom prst="rect">
            <a:avLst/>
          </a:prstGeom>
        </p:spPr>
        <p:txBody>
          <a:bodyPr anchor="t" rtlCol="false" tIns="0" lIns="0" bIns="0" rIns="0">
            <a:spAutoFit/>
          </a:bodyPr>
          <a:lstStyle/>
          <a:p>
            <a:pPr algn="ctr">
              <a:lnSpc>
                <a:spcPts val="3568"/>
              </a:lnSpc>
              <a:spcBef>
                <a:spcPct val="0"/>
              </a:spcBef>
            </a:pPr>
            <a:r>
              <a:rPr lang="en-US" sz="3568" spc="-107">
                <a:solidFill>
                  <a:srgbClr val="000000"/>
                </a:solidFill>
                <a:latin typeface="ITC Avant Garde Gothic"/>
                <a:ea typeface="ITC Avant Garde Gothic"/>
                <a:cs typeface="ITC Avant Garde Gothic"/>
                <a:sym typeface="ITC Avant Garde Gothic"/>
              </a:rPr>
              <a:t>Path Coverage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751977" y="264502"/>
            <a:ext cx="5743804" cy="4163051"/>
          </a:xfrm>
          <a:custGeom>
            <a:avLst/>
            <a:gdLst/>
            <a:ahLst/>
            <a:cxnLst/>
            <a:rect r="r" b="b" t="t" l="l"/>
            <a:pathLst>
              <a:path h="4163051" w="5743804">
                <a:moveTo>
                  <a:pt x="0" y="0"/>
                </a:moveTo>
                <a:lnTo>
                  <a:pt x="5743805" y="0"/>
                </a:lnTo>
                <a:lnTo>
                  <a:pt x="5743805" y="4163052"/>
                </a:lnTo>
                <a:lnTo>
                  <a:pt x="0" y="4163052"/>
                </a:lnTo>
                <a:lnTo>
                  <a:pt x="0" y="0"/>
                </a:lnTo>
                <a:close/>
              </a:path>
            </a:pathLst>
          </a:custGeom>
          <a:blipFill>
            <a:blip r:embed="rId2"/>
            <a:stretch>
              <a:fillRect l="0" t="0" r="0" b="0"/>
            </a:stretch>
          </a:blipFill>
        </p:spPr>
      </p:sp>
      <p:sp>
        <p:nvSpPr>
          <p:cNvPr name="Freeform 3" id="3"/>
          <p:cNvSpPr/>
          <p:nvPr/>
        </p:nvSpPr>
        <p:spPr>
          <a:xfrm flipH="false" flipV="false" rot="0">
            <a:off x="501162" y="5517041"/>
            <a:ext cx="7883492" cy="2127363"/>
          </a:xfrm>
          <a:custGeom>
            <a:avLst/>
            <a:gdLst/>
            <a:ahLst/>
            <a:cxnLst/>
            <a:rect r="r" b="b" t="t" l="l"/>
            <a:pathLst>
              <a:path h="2127363" w="7883492">
                <a:moveTo>
                  <a:pt x="0" y="0"/>
                </a:moveTo>
                <a:lnTo>
                  <a:pt x="7883491" y="0"/>
                </a:lnTo>
                <a:lnTo>
                  <a:pt x="7883491" y="2127363"/>
                </a:lnTo>
                <a:lnTo>
                  <a:pt x="0" y="2127363"/>
                </a:lnTo>
                <a:lnTo>
                  <a:pt x="0" y="0"/>
                </a:lnTo>
                <a:close/>
              </a:path>
            </a:pathLst>
          </a:custGeom>
          <a:blipFill>
            <a:blip r:embed="rId3"/>
            <a:stretch>
              <a:fillRect l="0" t="-259" r="0" b="-259"/>
            </a:stretch>
          </a:blipFill>
        </p:spPr>
      </p:sp>
      <p:sp>
        <p:nvSpPr>
          <p:cNvPr name="TextBox 4" id="4"/>
          <p:cNvSpPr txBox="true"/>
          <p:nvPr/>
        </p:nvSpPr>
        <p:spPr>
          <a:xfrm rot="0">
            <a:off x="7194612" y="704593"/>
            <a:ext cx="9877545" cy="1433661"/>
          </a:xfrm>
          <a:prstGeom prst="rect">
            <a:avLst/>
          </a:prstGeom>
        </p:spPr>
        <p:txBody>
          <a:bodyPr anchor="t" rtlCol="false" tIns="0" lIns="0" bIns="0" rIns="0">
            <a:spAutoFit/>
          </a:bodyPr>
          <a:lstStyle/>
          <a:p>
            <a:pPr algn="l">
              <a:lnSpc>
                <a:spcPts val="3568"/>
              </a:lnSpc>
              <a:spcBef>
                <a:spcPct val="0"/>
              </a:spcBef>
            </a:pPr>
            <a:r>
              <a:rPr lang="en-US" sz="3568" spc="-107">
                <a:solidFill>
                  <a:srgbClr val="000000"/>
                </a:solidFill>
                <a:latin typeface="ITC Avant Garde Gothic"/>
                <a:ea typeface="ITC Avant Garde Gothic"/>
                <a:cs typeface="ITC Avant Garde Gothic"/>
                <a:sym typeface="ITC Avant Garde Gothic"/>
              </a:rPr>
              <a:t>Tính Cyclomatic Complexity:</a:t>
            </a:r>
          </a:p>
          <a:p>
            <a:pPr algn="l">
              <a:lnSpc>
                <a:spcPts val="3568"/>
              </a:lnSpc>
              <a:spcBef>
                <a:spcPct val="0"/>
              </a:spcBef>
            </a:pPr>
            <a:r>
              <a:rPr lang="en-US" sz="3568" spc="-107">
                <a:solidFill>
                  <a:srgbClr val="000000"/>
                </a:solidFill>
                <a:latin typeface="ITC Avant Garde Gothic"/>
                <a:ea typeface="ITC Avant Garde Gothic"/>
                <a:cs typeface="ITC Avant Garde Gothic"/>
                <a:sym typeface="ITC Avant Garde Gothic"/>
              </a:rPr>
              <a:t>Số Nodes N = 8, Số Edges E = 10</a:t>
            </a:r>
          </a:p>
          <a:p>
            <a:pPr algn="l">
              <a:lnSpc>
                <a:spcPts val="3568"/>
              </a:lnSpc>
              <a:spcBef>
                <a:spcPct val="0"/>
              </a:spcBef>
            </a:pPr>
            <a:r>
              <a:rPr lang="en-US" sz="3568" spc="-107">
                <a:solidFill>
                  <a:srgbClr val="000000"/>
                </a:solidFill>
                <a:latin typeface="ITC Avant Garde Gothic"/>
                <a:ea typeface="ITC Avant Garde Gothic"/>
                <a:cs typeface="ITC Avant Garde Gothic"/>
                <a:sym typeface="ITC Avant Garde Gothic"/>
              </a:rPr>
              <a:t>V(G) = 10 − 8 + 2 = 4 → Có 4 đường dẫn độc lập</a:t>
            </a:r>
          </a:p>
        </p:txBody>
      </p:sp>
      <p:sp>
        <p:nvSpPr>
          <p:cNvPr name="TextBox 5" id="5"/>
          <p:cNvSpPr txBox="true"/>
          <p:nvPr/>
        </p:nvSpPr>
        <p:spPr>
          <a:xfrm rot="0">
            <a:off x="1239117" y="4702505"/>
            <a:ext cx="4769525" cy="538311"/>
          </a:xfrm>
          <a:prstGeom prst="rect">
            <a:avLst/>
          </a:prstGeom>
        </p:spPr>
        <p:txBody>
          <a:bodyPr anchor="t" rtlCol="false" tIns="0" lIns="0" bIns="0" rIns="0">
            <a:spAutoFit/>
          </a:bodyPr>
          <a:lstStyle/>
          <a:p>
            <a:pPr algn="ctr">
              <a:lnSpc>
                <a:spcPts val="3568"/>
              </a:lnSpc>
              <a:spcBef>
                <a:spcPct val="0"/>
              </a:spcBef>
            </a:pPr>
            <a:r>
              <a:rPr lang="en-US" sz="3568" spc="-107">
                <a:solidFill>
                  <a:srgbClr val="000000"/>
                </a:solidFill>
                <a:latin typeface="ITC Avant Garde Gothic"/>
                <a:ea typeface="ITC Avant Garde Gothic"/>
                <a:cs typeface="ITC Avant Garde Gothic"/>
                <a:sym typeface="ITC Avant Garde Gothic"/>
              </a:rPr>
              <a:t>Xác định 4 đường dẫn:</a:t>
            </a:r>
          </a:p>
        </p:txBody>
      </p:sp>
      <p:sp>
        <p:nvSpPr>
          <p:cNvPr name="Freeform 6" id="6"/>
          <p:cNvSpPr/>
          <p:nvPr/>
        </p:nvSpPr>
        <p:spPr>
          <a:xfrm flipH="false" flipV="false" rot="0">
            <a:off x="10050646" y="2545144"/>
            <a:ext cx="5362133" cy="6713156"/>
          </a:xfrm>
          <a:custGeom>
            <a:avLst/>
            <a:gdLst/>
            <a:ahLst/>
            <a:cxnLst/>
            <a:rect r="r" b="b" t="t" l="l"/>
            <a:pathLst>
              <a:path h="6713156" w="5362133">
                <a:moveTo>
                  <a:pt x="0" y="0"/>
                </a:moveTo>
                <a:lnTo>
                  <a:pt x="5362133" y="0"/>
                </a:lnTo>
                <a:lnTo>
                  <a:pt x="5362133" y="6713156"/>
                </a:lnTo>
                <a:lnTo>
                  <a:pt x="0" y="6713156"/>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3578469" y="711906"/>
            <a:ext cx="8729753" cy="2858994"/>
          </a:xfrm>
          <a:custGeom>
            <a:avLst/>
            <a:gdLst/>
            <a:ahLst/>
            <a:cxnLst/>
            <a:rect r="r" b="b" t="t" l="l"/>
            <a:pathLst>
              <a:path h="2858994" w="8729753">
                <a:moveTo>
                  <a:pt x="0" y="0"/>
                </a:moveTo>
                <a:lnTo>
                  <a:pt x="8729754" y="0"/>
                </a:lnTo>
                <a:lnTo>
                  <a:pt x="8729754" y="2858995"/>
                </a:lnTo>
                <a:lnTo>
                  <a:pt x="0" y="2858995"/>
                </a:lnTo>
                <a:lnTo>
                  <a:pt x="0" y="0"/>
                </a:lnTo>
                <a:close/>
              </a:path>
            </a:pathLst>
          </a:custGeom>
          <a:blipFill>
            <a:blip r:embed="rId2"/>
            <a:stretch>
              <a:fillRect l="0" t="0" r="0" b="0"/>
            </a:stretch>
          </a:blipFill>
        </p:spPr>
      </p:sp>
      <p:sp>
        <p:nvSpPr>
          <p:cNvPr name="Freeform 3" id="3"/>
          <p:cNvSpPr/>
          <p:nvPr/>
        </p:nvSpPr>
        <p:spPr>
          <a:xfrm flipH="false" flipV="false" rot="0">
            <a:off x="1111781" y="3570901"/>
            <a:ext cx="12926373" cy="2213641"/>
          </a:xfrm>
          <a:custGeom>
            <a:avLst/>
            <a:gdLst/>
            <a:ahLst/>
            <a:cxnLst/>
            <a:rect r="r" b="b" t="t" l="l"/>
            <a:pathLst>
              <a:path h="2213641" w="12926373">
                <a:moveTo>
                  <a:pt x="0" y="0"/>
                </a:moveTo>
                <a:lnTo>
                  <a:pt x="12926373" y="0"/>
                </a:lnTo>
                <a:lnTo>
                  <a:pt x="12926373" y="2213641"/>
                </a:lnTo>
                <a:lnTo>
                  <a:pt x="0" y="2213641"/>
                </a:lnTo>
                <a:lnTo>
                  <a:pt x="0" y="0"/>
                </a:lnTo>
                <a:close/>
              </a:path>
            </a:pathLst>
          </a:custGeom>
          <a:blipFill>
            <a:blip r:embed="rId3"/>
            <a:stretch>
              <a:fillRect l="0" t="0" r="0" b="0"/>
            </a:stretch>
          </a:blipFill>
        </p:spPr>
      </p:sp>
      <p:grpSp>
        <p:nvGrpSpPr>
          <p:cNvPr name="Group 4" id="4"/>
          <p:cNvGrpSpPr/>
          <p:nvPr/>
        </p:nvGrpSpPr>
        <p:grpSpPr>
          <a:xfrm rot="0">
            <a:off x="0" y="0"/>
            <a:ext cx="7574968" cy="1423813"/>
            <a:chOff x="0" y="0"/>
            <a:chExt cx="10099957" cy="1898417"/>
          </a:xfrm>
        </p:grpSpPr>
        <p:sp>
          <p:nvSpPr>
            <p:cNvPr name="TextBox 5" id="5"/>
            <p:cNvSpPr txBox="true"/>
            <p:nvPr/>
          </p:nvSpPr>
          <p:spPr>
            <a:xfrm rot="0">
              <a:off x="0" y="-9525"/>
              <a:ext cx="10099957" cy="798474"/>
            </a:xfrm>
            <a:prstGeom prst="rect">
              <a:avLst/>
            </a:prstGeom>
          </p:spPr>
          <p:txBody>
            <a:bodyPr anchor="t" rtlCol="false" tIns="0" lIns="0" bIns="0" rIns="0">
              <a:spAutoFit/>
            </a:bodyPr>
            <a:lstStyle/>
            <a:p>
              <a:pPr algn="l" marL="0" indent="0" lvl="0">
                <a:lnSpc>
                  <a:spcPts val="3902"/>
                </a:lnSpc>
                <a:spcBef>
                  <a:spcPct val="0"/>
                </a:spcBef>
              </a:pPr>
              <a:r>
                <a:rPr lang="en-US" sz="3902" spc="-117">
                  <a:solidFill>
                    <a:srgbClr val="2E3C54"/>
                  </a:solidFill>
                  <a:latin typeface="ITC Avant Garde Gothic"/>
                  <a:ea typeface="ITC Avant Garde Gothic"/>
                  <a:cs typeface="ITC Avant Garde Gothic"/>
                  <a:sym typeface="ITC Avant Garde Gothic"/>
                </a:rPr>
                <a:t>Danh sách các testcase</a:t>
              </a:r>
            </a:p>
          </p:txBody>
        </p:sp>
        <p:sp>
          <p:nvSpPr>
            <p:cNvPr name="TextBox 6" id="6"/>
            <p:cNvSpPr txBox="true"/>
            <p:nvPr/>
          </p:nvSpPr>
          <p:spPr>
            <a:xfrm rot="0">
              <a:off x="0" y="1662898"/>
              <a:ext cx="7506261" cy="235519"/>
            </a:xfrm>
            <a:prstGeom prst="rect">
              <a:avLst/>
            </a:prstGeom>
          </p:spPr>
          <p:txBody>
            <a:bodyPr anchor="t" rtlCol="false" tIns="0" lIns="0" bIns="0" rIns="0">
              <a:spAutoFit/>
            </a:bodyPr>
            <a:lstStyle/>
            <a:p>
              <a:pPr algn="l" marL="0" indent="0" lvl="0">
                <a:lnSpc>
                  <a:spcPts val="1434"/>
                </a:lnSpc>
              </a:pPr>
            </a:p>
          </p:txBody>
        </p:sp>
        <p:sp>
          <p:nvSpPr>
            <p:cNvPr name="TextBox 7" id="7"/>
            <p:cNvSpPr txBox="true"/>
            <p:nvPr/>
          </p:nvSpPr>
          <p:spPr>
            <a:xfrm rot="0">
              <a:off x="0" y="1090484"/>
              <a:ext cx="8803109" cy="315993"/>
            </a:xfrm>
            <a:prstGeom prst="rect">
              <a:avLst/>
            </a:prstGeom>
          </p:spPr>
          <p:txBody>
            <a:bodyPr anchor="t" rtlCol="false" tIns="0" lIns="0" bIns="0" rIns="0">
              <a:spAutoFit/>
            </a:bodyPr>
            <a:lstStyle/>
            <a:p>
              <a:pPr algn="l" marL="0" indent="0" lvl="0">
                <a:lnSpc>
                  <a:spcPts val="1873"/>
                </a:lnSpc>
                <a:spcBef>
                  <a:spcPct val="0"/>
                </a:spcBef>
              </a:pPr>
            </a:p>
          </p:txBody>
        </p:sp>
      </p:grpSp>
      <p:sp>
        <p:nvSpPr>
          <p:cNvPr name="Freeform 8" id="8"/>
          <p:cNvSpPr/>
          <p:nvPr/>
        </p:nvSpPr>
        <p:spPr>
          <a:xfrm flipH="false" flipV="false" rot="0">
            <a:off x="1111781" y="5784542"/>
            <a:ext cx="11824424" cy="2202299"/>
          </a:xfrm>
          <a:custGeom>
            <a:avLst/>
            <a:gdLst/>
            <a:ahLst/>
            <a:cxnLst/>
            <a:rect r="r" b="b" t="t" l="l"/>
            <a:pathLst>
              <a:path h="2202299" w="11824424">
                <a:moveTo>
                  <a:pt x="0" y="0"/>
                </a:moveTo>
                <a:lnTo>
                  <a:pt x="11824424" y="0"/>
                </a:lnTo>
                <a:lnTo>
                  <a:pt x="11824424" y="2202299"/>
                </a:lnTo>
                <a:lnTo>
                  <a:pt x="0" y="2202299"/>
                </a:lnTo>
                <a:lnTo>
                  <a:pt x="0" y="0"/>
                </a:lnTo>
                <a:close/>
              </a:path>
            </a:pathLst>
          </a:custGeom>
          <a:blipFill>
            <a:blip r:embed="rId4"/>
            <a:stretch>
              <a:fillRect l="0" t="0" r="0" b="0"/>
            </a:stretch>
          </a:blipFill>
        </p:spPr>
      </p:sp>
      <p:sp>
        <p:nvSpPr>
          <p:cNvPr name="Freeform 9" id="9"/>
          <p:cNvSpPr/>
          <p:nvPr/>
        </p:nvSpPr>
        <p:spPr>
          <a:xfrm flipH="false" flipV="false" rot="0">
            <a:off x="1756335" y="7927667"/>
            <a:ext cx="11637266" cy="2167441"/>
          </a:xfrm>
          <a:custGeom>
            <a:avLst/>
            <a:gdLst/>
            <a:ahLst/>
            <a:cxnLst/>
            <a:rect r="r" b="b" t="t" l="l"/>
            <a:pathLst>
              <a:path h="2167441" w="11637266">
                <a:moveTo>
                  <a:pt x="0" y="0"/>
                </a:moveTo>
                <a:lnTo>
                  <a:pt x="11637266" y="0"/>
                </a:lnTo>
                <a:lnTo>
                  <a:pt x="11637266" y="2167441"/>
                </a:lnTo>
                <a:lnTo>
                  <a:pt x="0" y="2167441"/>
                </a:lnTo>
                <a:lnTo>
                  <a:pt x="0" y="0"/>
                </a:lnTo>
                <a:close/>
              </a:path>
            </a:pathLst>
          </a:custGeom>
          <a:blipFill>
            <a:blip r:embed="rId5"/>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8608748" y="1602979"/>
            <a:ext cx="8650552" cy="7081042"/>
          </a:xfrm>
          <a:custGeom>
            <a:avLst/>
            <a:gdLst/>
            <a:ahLst/>
            <a:cxnLst/>
            <a:rect r="r" b="b" t="t" l="l"/>
            <a:pathLst>
              <a:path h="7081042" w="8650552">
                <a:moveTo>
                  <a:pt x="0" y="0"/>
                </a:moveTo>
                <a:lnTo>
                  <a:pt x="8650552" y="0"/>
                </a:lnTo>
                <a:lnTo>
                  <a:pt x="8650552" y="7081042"/>
                </a:lnTo>
                <a:lnTo>
                  <a:pt x="0" y="7081042"/>
                </a:lnTo>
                <a:lnTo>
                  <a:pt x="0" y="0"/>
                </a:lnTo>
                <a:close/>
              </a:path>
            </a:pathLst>
          </a:custGeom>
          <a:blipFill>
            <a:blip r:embed="rId2"/>
            <a:stretch>
              <a:fillRect l="0" t="0" r="0" b="0"/>
            </a:stretch>
          </a:blipFill>
        </p:spPr>
      </p:sp>
      <p:sp>
        <p:nvSpPr>
          <p:cNvPr name="Freeform 3" id="3"/>
          <p:cNvSpPr/>
          <p:nvPr/>
        </p:nvSpPr>
        <p:spPr>
          <a:xfrm flipH="false" flipV="false" rot="0">
            <a:off x="1658413" y="2052588"/>
            <a:ext cx="5916555" cy="6631433"/>
          </a:xfrm>
          <a:custGeom>
            <a:avLst/>
            <a:gdLst/>
            <a:ahLst/>
            <a:cxnLst/>
            <a:rect r="r" b="b" t="t" l="l"/>
            <a:pathLst>
              <a:path h="6631433" w="5916555">
                <a:moveTo>
                  <a:pt x="0" y="0"/>
                </a:moveTo>
                <a:lnTo>
                  <a:pt x="5916555" y="0"/>
                </a:lnTo>
                <a:lnTo>
                  <a:pt x="5916555" y="6631433"/>
                </a:lnTo>
                <a:lnTo>
                  <a:pt x="0" y="6631433"/>
                </a:lnTo>
                <a:lnTo>
                  <a:pt x="0" y="0"/>
                </a:lnTo>
                <a:close/>
              </a:path>
            </a:pathLst>
          </a:custGeom>
          <a:blipFill>
            <a:blip r:embed="rId3"/>
            <a:stretch>
              <a:fillRect l="0" t="0" r="0" b="0"/>
            </a:stretch>
          </a:blipFill>
        </p:spPr>
      </p:sp>
      <p:grpSp>
        <p:nvGrpSpPr>
          <p:cNvPr name="Group 4" id="4"/>
          <p:cNvGrpSpPr/>
          <p:nvPr/>
        </p:nvGrpSpPr>
        <p:grpSpPr>
          <a:xfrm rot="0">
            <a:off x="0" y="0"/>
            <a:ext cx="7574968" cy="1423813"/>
            <a:chOff x="0" y="0"/>
            <a:chExt cx="10099957" cy="1898417"/>
          </a:xfrm>
        </p:grpSpPr>
        <p:sp>
          <p:nvSpPr>
            <p:cNvPr name="TextBox 5" id="5"/>
            <p:cNvSpPr txBox="true"/>
            <p:nvPr/>
          </p:nvSpPr>
          <p:spPr>
            <a:xfrm rot="0">
              <a:off x="0" y="-9525"/>
              <a:ext cx="10099957" cy="798474"/>
            </a:xfrm>
            <a:prstGeom prst="rect">
              <a:avLst/>
            </a:prstGeom>
          </p:spPr>
          <p:txBody>
            <a:bodyPr anchor="t" rtlCol="false" tIns="0" lIns="0" bIns="0" rIns="0">
              <a:spAutoFit/>
            </a:bodyPr>
            <a:lstStyle/>
            <a:p>
              <a:pPr algn="l" marL="0" indent="0" lvl="0">
                <a:lnSpc>
                  <a:spcPts val="3902"/>
                </a:lnSpc>
                <a:spcBef>
                  <a:spcPct val="0"/>
                </a:spcBef>
              </a:pPr>
              <a:r>
                <a:rPr lang="en-US" sz="3902" spc="-117">
                  <a:solidFill>
                    <a:srgbClr val="2E3C54"/>
                  </a:solidFill>
                  <a:latin typeface="ITC Avant Garde Gothic"/>
                  <a:ea typeface="ITC Avant Garde Gothic"/>
                  <a:cs typeface="ITC Avant Garde Gothic"/>
                  <a:sym typeface="ITC Avant Garde Gothic"/>
                </a:rPr>
                <a:t>CHƯƠNG 5. THỰC THI KIỂM THỬ</a:t>
              </a:r>
            </a:p>
          </p:txBody>
        </p:sp>
        <p:sp>
          <p:nvSpPr>
            <p:cNvPr name="TextBox 6" id="6"/>
            <p:cNvSpPr txBox="true"/>
            <p:nvPr/>
          </p:nvSpPr>
          <p:spPr>
            <a:xfrm rot="0">
              <a:off x="0" y="1662898"/>
              <a:ext cx="7506261" cy="235519"/>
            </a:xfrm>
            <a:prstGeom prst="rect">
              <a:avLst/>
            </a:prstGeom>
          </p:spPr>
          <p:txBody>
            <a:bodyPr anchor="t" rtlCol="false" tIns="0" lIns="0" bIns="0" rIns="0">
              <a:spAutoFit/>
            </a:bodyPr>
            <a:lstStyle/>
            <a:p>
              <a:pPr algn="l" marL="0" indent="0" lvl="0">
                <a:lnSpc>
                  <a:spcPts val="1434"/>
                </a:lnSpc>
              </a:pPr>
            </a:p>
          </p:txBody>
        </p:sp>
        <p:sp>
          <p:nvSpPr>
            <p:cNvPr name="TextBox 7" id="7"/>
            <p:cNvSpPr txBox="true"/>
            <p:nvPr/>
          </p:nvSpPr>
          <p:spPr>
            <a:xfrm rot="0">
              <a:off x="0" y="1090484"/>
              <a:ext cx="8803109" cy="315993"/>
            </a:xfrm>
            <a:prstGeom prst="rect">
              <a:avLst/>
            </a:prstGeom>
          </p:spPr>
          <p:txBody>
            <a:bodyPr anchor="t" rtlCol="false" tIns="0" lIns="0" bIns="0" rIns="0">
              <a:spAutoFit/>
            </a:bodyPr>
            <a:lstStyle/>
            <a:p>
              <a:pPr algn="l" marL="0" indent="0" lvl="0">
                <a:lnSpc>
                  <a:spcPts val="1873"/>
                </a:lnSpc>
                <a:spcBef>
                  <a:spcPct val="0"/>
                </a:spcBef>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317689" y="806308"/>
            <a:ext cx="9941602" cy="4063630"/>
          </a:xfrm>
          <a:custGeom>
            <a:avLst/>
            <a:gdLst/>
            <a:ahLst/>
            <a:cxnLst/>
            <a:rect r="r" b="b" t="t" l="l"/>
            <a:pathLst>
              <a:path h="4063630" w="9941602">
                <a:moveTo>
                  <a:pt x="0" y="0"/>
                </a:moveTo>
                <a:lnTo>
                  <a:pt x="9941602" y="0"/>
                </a:lnTo>
                <a:lnTo>
                  <a:pt x="9941602" y="4063629"/>
                </a:lnTo>
                <a:lnTo>
                  <a:pt x="0" y="4063629"/>
                </a:lnTo>
                <a:lnTo>
                  <a:pt x="0" y="0"/>
                </a:lnTo>
                <a:close/>
              </a:path>
            </a:pathLst>
          </a:custGeom>
          <a:blipFill>
            <a:blip r:embed="rId2"/>
            <a:stretch>
              <a:fillRect l="0" t="0" r="0" b="0"/>
            </a:stretch>
          </a:blipFill>
        </p:spPr>
      </p:sp>
      <p:grpSp>
        <p:nvGrpSpPr>
          <p:cNvPr name="Group 3" id="3"/>
          <p:cNvGrpSpPr/>
          <p:nvPr/>
        </p:nvGrpSpPr>
        <p:grpSpPr>
          <a:xfrm rot="0">
            <a:off x="317689" y="0"/>
            <a:ext cx="7787066" cy="2838123"/>
            <a:chOff x="0" y="0"/>
            <a:chExt cx="10382755" cy="3784163"/>
          </a:xfrm>
        </p:grpSpPr>
        <p:sp>
          <p:nvSpPr>
            <p:cNvPr name="TextBox 4" id="4"/>
            <p:cNvSpPr txBox="true"/>
            <p:nvPr/>
          </p:nvSpPr>
          <p:spPr>
            <a:xfrm rot="0">
              <a:off x="0" y="-9525"/>
              <a:ext cx="6512995" cy="1248965"/>
            </a:xfrm>
            <a:prstGeom prst="rect">
              <a:avLst/>
            </a:prstGeom>
          </p:spPr>
          <p:txBody>
            <a:bodyPr anchor="t" rtlCol="false" tIns="0" lIns="0" bIns="0" rIns="0">
              <a:spAutoFit/>
            </a:bodyPr>
            <a:lstStyle/>
            <a:p>
              <a:pPr algn="l">
                <a:lnSpc>
                  <a:spcPts val="2300"/>
                </a:lnSpc>
              </a:pPr>
            </a:p>
            <a:p>
              <a:pPr algn="l">
                <a:lnSpc>
                  <a:spcPts val="2300"/>
                </a:lnSpc>
              </a:pPr>
              <a:r>
                <a:rPr lang="en-US" sz="2300" spc="-69">
                  <a:solidFill>
                    <a:srgbClr val="2E3C54"/>
                  </a:solidFill>
                  <a:latin typeface="ITC Avant Garde Gothic"/>
                  <a:ea typeface="ITC Avant Garde Gothic"/>
                  <a:cs typeface="ITC Avant Garde Gothic"/>
                  <a:sym typeface="ITC Avant Garde Gothic"/>
                </a:rPr>
                <a:t>CHƯƠNG 6: KIỂM THỬ</a:t>
              </a:r>
              <a:r>
                <a:rPr lang="en-US" sz="2300" spc="-69">
                  <a:solidFill>
                    <a:srgbClr val="2E3C54"/>
                  </a:solidFill>
                  <a:latin typeface="ITC Avant Garde Gothic"/>
                  <a:ea typeface="ITC Avant Garde Gothic"/>
                  <a:cs typeface="ITC Avant Garde Gothic"/>
                  <a:sym typeface="ITC Avant Garde Gothic"/>
                </a:rPr>
                <a:t> TỰ ĐỘNG</a:t>
              </a:r>
            </a:p>
            <a:p>
              <a:pPr algn="l" marL="0" indent="0" lvl="0">
                <a:lnSpc>
                  <a:spcPts val="2300"/>
                </a:lnSpc>
                <a:spcBef>
                  <a:spcPct val="0"/>
                </a:spcBef>
              </a:pPr>
            </a:p>
          </p:txBody>
        </p:sp>
        <p:sp>
          <p:nvSpPr>
            <p:cNvPr name="TextBox 5" id="5"/>
            <p:cNvSpPr txBox="true"/>
            <p:nvPr/>
          </p:nvSpPr>
          <p:spPr>
            <a:xfrm rot="0">
              <a:off x="0" y="3532457"/>
              <a:ext cx="8853198" cy="251706"/>
            </a:xfrm>
            <a:prstGeom prst="rect">
              <a:avLst/>
            </a:prstGeom>
          </p:spPr>
          <p:txBody>
            <a:bodyPr anchor="t" rtlCol="false" tIns="0" lIns="0" bIns="0" rIns="0">
              <a:spAutoFit/>
            </a:bodyPr>
            <a:lstStyle/>
            <a:p>
              <a:pPr algn="l" marL="0" indent="0" lvl="0">
                <a:lnSpc>
                  <a:spcPts val="1546"/>
                </a:lnSpc>
              </a:pPr>
            </a:p>
          </p:txBody>
        </p:sp>
        <p:sp>
          <p:nvSpPr>
            <p:cNvPr name="TextBox 6" id="6"/>
            <p:cNvSpPr txBox="true"/>
            <p:nvPr/>
          </p:nvSpPr>
          <p:spPr>
            <a:xfrm rot="0">
              <a:off x="0" y="2903509"/>
              <a:ext cx="10382755" cy="350235"/>
            </a:xfrm>
            <a:prstGeom prst="rect">
              <a:avLst/>
            </a:prstGeom>
          </p:spPr>
          <p:txBody>
            <a:bodyPr anchor="t" rtlCol="false" tIns="0" lIns="0" bIns="0" rIns="0">
              <a:spAutoFit/>
            </a:bodyPr>
            <a:lstStyle/>
            <a:p>
              <a:pPr algn="l" marL="0" indent="0" lvl="0">
                <a:lnSpc>
                  <a:spcPts val="2019"/>
                </a:lnSpc>
                <a:spcBef>
                  <a:spcPct val="0"/>
                </a:spcBef>
              </a:pPr>
            </a:p>
          </p:txBody>
        </p:sp>
      </p:grpSp>
      <p:sp>
        <p:nvSpPr>
          <p:cNvPr name="Freeform 7" id="7"/>
          <p:cNvSpPr/>
          <p:nvPr/>
        </p:nvSpPr>
        <p:spPr>
          <a:xfrm flipH="false" flipV="false" rot="0">
            <a:off x="11705854" y="541775"/>
            <a:ext cx="5553446" cy="6917450"/>
          </a:xfrm>
          <a:custGeom>
            <a:avLst/>
            <a:gdLst/>
            <a:ahLst/>
            <a:cxnLst/>
            <a:rect r="r" b="b" t="t" l="l"/>
            <a:pathLst>
              <a:path h="6917450" w="5553446">
                <a:moveTo>
                  <a:pt x="0" y="0"/>
                </a:moveTo>
                <a:lnTo>
                  <a:pt x="5553446" y="0"/>
                </a:lnTo>
                <a:lnTo>
                  <a:pt x="5553446" y="6917450"/>
                </a:lnTo>
                <a:lnTo>
                  <a:pt x="0" y="6917450"/>
                </a:lnTo>
                <a:lnTo>
                  <a:pt x="0" y="0"/>
                </a:lnTo>
                <a:close/>
              </a:path>
            </a:pathLst>
          </a:custGeom>
          <a:blipFill>
            <a:blip r:embed="rId3"/>
            <a:stretch>
              <a:fillRect l="0" t="0" r="0" b="0"/>
            </a:stretch>
          </a:blipFill>
        </p:spPr>
      </p:sp>
      <p:grpSp>
        <p:nvGrpSpPr>
          <p:cNvPr name="Group 8" id="8"/>
          <p:cNvGrpSpPr/>
          <p:nvPr/>
        </p:nvGrpSpPr>
        <p:grpSpPr>
          <a:xfrm rot="0">
            <a:off x="317689" y="5933766"/>
            <a:ext cx="5381793" cy="766698"/>
            <a:chOff x="0" y="0"/>
            <a:chExt cx="7175724" cy="1022264"/>
          </a:xfrm>
        </p:grpSpPr>
        <p:sp>
          <p:nvSpPr>
            <p:cNvPr name="TextBox 9" id="9"/>
            <p:cNvSpPr txBox="true"/>
            <p:nvPr/>
          </p:nvSpPr>
          <p:spPr>
            <a:xfrm rot="0">
              <a:off x="0" y="480077"/>
              <a:ext cx="7175724" cy="205460"/>
            </a:xfrm>
            <a:prstGeom prst="rect">
              <a:avLst/>
            </a:prstGeom>
          </p:spPr>
          <p:txBody>
            <a:bodyPr anchor="t" rtlCol="false" tIns="0" lIns="0" bIns="0" rIns="0">
              <a:spAutoFit/>
            </a:bodyPr>
            <a:lstStyle/>
            <a:p>
              <a:pPr algn="l" marL="0" indent="0" lvl="0">
                <a:lnSpc>
                  <a:spcPts val="1010"/>
                </a:lnSpc>
                <a:spcBef>
                  <a:spcPct val="0"/>
                </a:spcBef>
              </a:pPr>
            </a:p>
          </p:txBody>
        </p:sp>
        <p:sp>
          <p:nvSpPr>
            <p:cNvPr name="TextBox 10" id="10"/>
            <p:cNvSpPr txBox="true"/>
            <p:nvPr/>
          </p:nvSpPr>
          <p:spPr>
            <a:xfrm rot="0">
              <a:off x="0" y="840748"/>
              <a:ext cx="7175724" cy="181517"/>
            </a:xfrm>
            <a:prstGeom prst="rect">
              <a:avLst/>
            </a:prstGeom>
          </p:spPr>
          <p:txBody>
            <a:bodyPr anchor="t" rtlCol="false" tIns="0" lIns="0" bIns="0" rIns="0">
              <a:spAutoFit/>
            </a:bodyPr>
            <a:lstStyle/>
            <a:p>
              <a:pPr algn="l" marL="0" indent="0" lvl="0">
                <a:lnSpc>
                  <a:spcPts val="1149"/>
                </a:lnSpc>
                <a:spcBef>
                  <a:spcPct val="0"/>
                </a:spcBef>
              </a:pPr>
            </a:p>
          </p:txBody>
        </p:sp>
        <p:sp>
          <p:nvSpPr>
            <p:cNvPr name="TextBox 11" id="11"/>
            <p:cNvSpPr txBox="true"/>
            <p:nvPr/>
          </p:nvSpPr>
          <p:spPr>
            <a:xfrm rot="0">
              <a:off x="0" y="0"/>
              <a:ext cx="7175724" cy="489602"/>
            </a:xfrm>
            <a:prstGeom prst="rect">
              <a:avLst/>
            </a:prstGeom>
          </p:spPr>
          <p:txBody>
            <a:bodyPr anchor="t" rtlCol="false" tIns="0" lIns="0" bIns="0" rIns="0">
              <a:spAutoFit/>
            </a:bodyPr>
            <a:lstStyle/>
            <a:p>
              <a:pPr algn="l" marL="0" indent="0" lvl="0">
                <a:lnSpc>
                  <a:spcPts val="2456"/>
                </a:lnSpc>
                <a:spcBef>
                  <a:spcPct val="0"/>
                </a:spcBef>
              </a:pPr>
              <a:r>
                <a:rPr lang="en-US" sz="2456" spc="-73">
                  <a:solidFill>
                    <a:srgbClr val="2E3C54"/>
                  </a:solidFill>
                  <a:latin typeface="ITC Avant Garde Gothic"/>
                  <a:ea typeface="ITC Avant Garde Gothic"/>
                  <a:cs typeface="ITC Avant Garde Gothic"/>
                  <a:sym typeface="ITC Avant Garde Gothic"/>
                </a:rPr>
                <a:t>CHƯƠNG 7 BÁO CÁO LỖI</a:t>
              </a:r>
            </a:p>
          </p:txBody>
        </p:sp>
      </p:grpSp>
      <p:sp>
        <p:nvSpPr>
          <p:cNvPr name="Freeform 12" id="12"/>
          <p:cNvSpPr/>
          <p:nvPr/>
        </p:nvSpPr>
        <p:spPr>
          <a:xfrm flipH="false" flipV="false" rot="0">
            <a:off x="317689" y="6317115"/>
            <a:ext cx="8115300" cy="3375390"/>
          </a:xfrm>
          <a:custGeom>
            <a:avLst/>
            <a:gdLst/>
            <a:ahLst/>
            <a:cxnLst/>
            <a:rect r="r" b="b" t="t" l="l"/>
            <a:pathLst>
              <a:path h="3375390" w="8115300">
                <a:moveTo>
                  <a:pt x="0" y="0"/>
                </a:moveTo>
                <a:lnTo>
                  <a:pt x="8115300" y="0"/>
                </a:lnTo>
                <a:lnTo>
                  <a:pt x="8115300" y="3375390"/>
                </a:lnTo>
                <a:lnTo>
                  <a:pt x="0" y="3375390"/>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5430959" y="752281"/>
            <a:ext cx="2190291" cy="809819"/>
            <a:chOff x="0" y="0"/>
            <a:chExt cx="2920388" cy="1079758"/>
          </a:xfrm>
        </p:grpSpPr>
        <p:sp>
          <p:nvSpPr>
            <p:cNvPr name="Freeform 3" id="3"/>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6" id="6"/>
          <p:cNvSpPr/>
          <p:nvPr/>
        </p:nvSpPr>
        <p:spPr>
          <a:xfrm flipH="false" flipV="false" rot="0">
            <a:off x="666750" y="4052571"/>
            <a:ext cx="5033962" cy="4790725"/>
          </a:xfrm>
          <a:custGeom>
            <a:avLst/>
            <a:gdLst/>
            <a:ahLst/>
            <a:cxnLst/>
            <a:rect r="r" b="b" t="t" l="l"/>
            <a:pathLst>
              <a:path h="4790725" w="5033962">
                <a:moveTo>
                  <a:pt x="0" y="0"/>
                </a:moveTo>
                <a:lnTo>
                  <a:pt x="5033962" y="0"/>
                </a:lnTo>
                <a:lnTo>
                  <a:pt x="5033962" y="4790725"/>
                </a:lnTo>
                <a:lnTo>
                  <a:pt x="0" y="4790725"/>
                </a:lnTo>
                <a:lnTo>
                  <a:pt x="0" y="0"/>
                </a:lnTo>
                <a:close/>
              </a:path>
            </a:pathLst>
          </a:custGeom>
          <a:blipFill>
            <a:blip r:embed="rId4"/>
            <a:stretch>
              <a:fillRect l="0" t="0" r="0" b="0"/>
            </a:stretch>
          </a:blipFill>
        </p:spPr>
      </p:sp>
      <p:sp>
        <p:nvSpPr>
          <p:cNvPr name="Freeform 7" id="7"/>
          <p:cNvSpPr/>
          <p:nvPr/>
        </p:nvSpPr>
        <p:spPr>
          <a:xfrm flipH="false" flipV="false" rot="0">
            <a:off x="6117242" y="4005529"/>
            <a:ext cx="4617433" cy="4837767"/>
          </a:xfrm>
          <a:custGeom>
            <a:avLst/>
            <a:gdLst/>
            <a:ahLst/>
            <a:cxnLst/>
            <a:rect r="r" b="b" t="t" l="l"/>
            <a:pathLst>
              <a:path h="4837767" w="4617433">
                <a:moveTo>
                  <a:pt x="0" y="0"/>
                </a:moveTo>
                <a:lnTo>
                  <a:pt x="4617433" y="0"/>
                </a:lnTo>
                <a:lnTo>
                  <a:pt x="4617433" y="4837767"/>
                </a:lnTo>
                <a:lnTo>
                  <a:pt x="0" y="4837767"/>
                </a:lnTo>
                <a:lnTo>
                  <a:pt x="0" y="0"/>
                </a:lnTo>
                <a:close/>
              </a:path>
            </a:pathLst>
          </a:custGeom>
          <a:blipFill>
            <a:blip r:embed="rId5"/>
            <a:stretch>
              <a:fillRect l="0" t="0" r="0" b="0"/>
            </a:stretch>
          </a:blipFill>
        </p:spPr>
      </p:sp>
      <p:grpSp>
        <p:nvGrpSpPr>
          <p:cNvPr name="Group 8" id="8"/>
          <p:cNvGrpSpPr/>
          <p:nvPr/>
        </p:nvGrpSpPr>
        <p:grpSpPr>
          <a:xfrm rot="0">
            <a:off x="666750" y="666750"/>
            <a:ext cx="10067925" cy="4181475"/>
            <a:chOff x="0" y="0"/>
            <a:chExt cx="13423900" cy="5575300"/>
          </a:xfrm>
        </p:grpSpPr>
        <p:sp>
          <p:nvSpPr>
            <p:cNvPr name="TextBox 9" id="9"/>
            <p:cNvSpPr txBox="true"/>
            <p:nvPr/>
          </p:nvSpPr>
          <p:spPr>
            <a:xfrm rot="0">
              <a:off x="0" y="-9525"/>
              <a:ext cx="9240280" cy="2675797"/>
            </a:xfrm>
            <a:prstGeom prst="rect">
              <a:avLst/>
            </a:prstGeom>
          </p:spPr>
          <p:txBody>
            <a:bodyPr anchor="t" rtlCol="false" tIns="0" lIns="0" bIns="0" rIns="0">
              <a:spAutoFit/>
            </a:bodyPr>
            <a:lstStyle/>
            <a:p>
              <a:pPr algn="l" marL="0" indent="0" lvl="0">
                <a:lnSpc>
                  <a:spcPts val="4949"/>
                </a:lnSpc>
                <a:spcBef>
                  <a:spcPct val="0"/>
                </a:spcBef>
              </a:pPr>
              <a:r>
                <a:rPr lang="en-US" sz="4949" spc="-148">
                  <a:solidFill>
                    <a:srgbClr val="2E3C54"/>
                  </a:solidFill>
                  <a:latin typeface="ITC Avant Garde Gothic"/>
                  <a:ea typeface="ITC Avant Garde Gothic"/>
                  <a:cs typeface="ITC Avant Garde Gothic"/>
                  <a:sym typeface="ITC Avant Garde Gothic"/>
                </a:rPr>
                <a:t>CHƯƠ</a:t>
              </a:r>
              <a:r>
                <a:rPr lang="en-US" sz="4949" spc="-148" strike="noStrike" u="none">
                  <a:solidFill>
                    <a:srgbClr val="2E3C54"/>
                  </a:solidFill>
                  <a:latin typeface="ITC Avant Garde Gothic"/>
                  <a:ea typeface="ITC Avant Garde Gothic"/>
                  <a:cs typeface="ITC Avant Garde Gothic"/>
                  <a:sym typeface="ITC Avant Garde Gothic"/>
                </a:rPr>
                <a:t>N</a:t>
              </a:r>
              <a:r>
                <a:rPr lang="en-US" sz="4949" spc="-148" strike="noStrike" u="none">
                  <a:solidFill>
                    <a:srgbClr val="2E3C54"/>
                  </a:solidFill>
                  <a:latin typeface="ITC Avant Garde Gothic"/>
                  <a:ea typeface="ITC Avant Garde Gothic"/>
                  <a:cs typeface="ITC Avant Garde Gothic"/>
                  <a:sym typeface="ITC Avant Garde Gothic"/>
                </a:rPr>
                <a:t>G</a:t>
              </a:r>
              <a:r>
                <a:rPr lang="en-US" sz="4949" spc="-148" strike="noStrike" u="none">
                  <a:solidFill>
                    <a:srgbClr val="2E3C54"/>
                  </a:solidFill>
                  <a:latin typeface="ITC Avant Garde Gothic"/>
                  <a:ea typeface="ITC Avant Garde Gothic"/>
                  <a:cs typeface="ITC Avant Garde Gothic"/>
                  <a:sym typeface="ITC Avant Garde Gothic"/>
                </a:rPr>
                <a:t> </a:t>
              </a:r>
              <a:r>
                <a:rPr lang="en-US" sz="4949" spc="-148" strike="noStrike" u="none">
                  <a:solidFill>
                    <a:srgbClr val="2E3C54"/>
                  </a:solidFill>
                  <a:latin typeface="ITC Avant Garde Gothic"/>
                  <a:ea typeface="ITC Avant Garde Gothic"/>
                  <a:cs typeface="ITC Avant Garde Gothic"/>
                  <a:sym typeface="ITC Avant Garde Gothic"/>
                </a:rPr>
                <a:t>8:</a:t>
              </a:r>
              <a:r>
                <a:rPr lang="en-US" sz="4949" spc="-148" strike="noStrike" u="none">
                  <a:solidFill>
                    <a:srgbClr val="2E3C54"/>
                  </a:solidFill>
                  <a:latin typeface="ITC Avant Garde Gothic"/>
                  <a:ea typeface="ITC Avant Garde Gothic"/>
                  <a:cs typeface="ITC Avant Garde Gothic"/>
                  <a:sym typeface="ITC Avant Garde Gothic"/>
                </a:rPr>
                <a:t> </a:t>
              </a:r>
              <a:r>
                <a:rPr lang="en-US" sz="4949" spc="-148" strike="noStrike" u="none">
                  <a:solidFill>
                    <a:srgbClr val="2E3C54"/>
                  </a:solidFill>
                  <a:latin typeface="ITC Avant Garde Gothic"/>
                  <a:ea typeface="ITC Avant Garde Gothic"/>
                  <a:cs typeface="ITC Avant Garde Gothic"/>
                  <a:sym typeface="ITC Avant Garde Gothic"/>
                </a:rPr>
                <a:t>TỔNG</a:t>
              </a:r>
              <a:r>
                <a:rPr lang="en-US" sz="4949" spc="-148" strike="noStrike" u="none">
                  <a:solidFill>
                    <a:srgbClr val="2E3C54"/>
                  </a:solidFill>
                  <a:latin typeface="ITC Avant Garde Gothic"/>
                  <a:ea typeface="ITC Avant Garde Gothic"/>
                  <a:cs typeface="ITC Avant Garde Gothic"/>
                  <a:sym typeface="ITC Avant Garde Gothic"/>
                </a:rPr>
                <a:t> </a:t>
              </a:r>
              <a:r>
                <a:rPr lang="en-US" sz="4949" spc="-148" strike="noStrike" u="none">
                  <a:solidFill>
                    <a:srgbClr val="2E3C54"/>
                  </a:solidFill>
                  <a:latin typeface="ITC Avant Garde Gothic"/>
                  <a:ea typeface="ITC Avant Garde Gothic"/>
                  <a:cs typeface="ITC Avant Garde Gothic"/>
                  <a:sym typeface="ITC Avant Garde Gothic"/>
                </a:rPr>
                <a:t>KẾT</a:t>
              </a:r>
              <a:r>
                <a:rPr lang="en-US" sz="4949" spc="-148" strike="noStrike" u="none">
                  <a:solidFill>
                    <a:srgbClr val="2E3C54"/>
                  </a:solidFill>
                  <a:latin typeface="ITC Avant Garde Gothic"/>
                  <a:ea typeface="ITC Avant Garde Gothic"/>
                  <a:cs typeface="ITC Avant Garde Gothic"/>
                  <a:sym typeface="ITC Avant Garde Gothic"/>
                </a:rPr>
                <a:t> </a:t>
              </a:r>
              <a:r>
                <a:rPr lang="en-US" sz="4949" spc="-148" strike="noStrike" u="none">
                  <a:solidFill>
                    <a:srgbClr val="2E3C54"/>
                  </a:solidFill>
                  <a:latin typeface="ITC Avant Garde Gothic"/>
                  <a:ea typeface="ITC Avant Garde Gothic"/>
                  <a:cs typeface="ITC Avant Garde Gothic"/>
                  <a:sym typeface="ITC Avant Garde Gothic"/>
                </a:rPr>
                <a:t>VÀ </a:t>
              </a:r>
              <a:r>
                <a:rPr lang="en-US" sz="4949" spc="-148" strike="noStrike" u="none">
                  <a:solidFill>
                    <a:srgbClr val="2E3C54"/>
                  </a:solidFill>
                  <a:latin typeface="ITC Avant Garde Gothic"/>
                  <a:ea typeface="ITC Avant Garde Gothic"/>
                  <a:cs typeface="ITC Avant Garde Gothic"/>
                  <a:sym typeface="ITC Avant Garde Gothic"/>
                </a:rPr>
                <a:t>ĐÁNH GIÁ</a:t>
              </a:r>
            </a:p>
            <a:p>
              <a:pPr algn="l" marL="0" indent="0" lvl="0">
                <a:lnSpc>
                  <a:spcPts val="4949"/>
                </a:lnSpc>
                <a:spcBef>
                  <a:spcPct val="0"/>
                </a:spcBef>
              </a:pPr>
            </a:p>
          </p:txBody>
        </p:sp>
        <p:sp>
          <p:nvSpPr>
            <p:cNvPr name="TextBox 10" id="10"/>
            <p:cNvSpPr txBox="true"/>
            <p:nvPr/>
          </p:nvSpPr>
          <p:spPr>
            <a:xfrm rot="0">
              <a:off x="0" y="4927600"/>
              <a:ext cx="13423900" cy="647700"/>
            </a:xfrm>
            <a:prstGeom prst="rect">
              <a:avLst/>
            </a:prstGeom>
          </p:spPr>
          <p:txBody>
            <a:bodyPr anchor="t" rtlCol="false" tIns="0" lIns="0" bIns="0" rIns="0">
              <a:spAutoFit/>
            </a:bodyPr>
            <a:lstStyle/>
            <a:p>
              <a:pPr algn="l" marL="0" indent="0" lvl="0">
                <a:lnSpc>
                  <a:spcPts val="3839"/>
                </a:lnSpc>
              </a:pPr>
            </a:p>
          </p:txBody>
        </p:sp>
      </p:grpSp>
      <p:sp>
        <p:nvSpPr>
          <p:cNvPr name="Freeform 11" id="11"/>
          <p:cNvSpPr/>
          <p:nvPr/>
        </p:nvSpPr>
        <p:spPr>
          <a:xfrm flipH="false" flipV="false" rot="0">
            <a:off x="12394373" y="3970422"/>
            <a:ext cx="4483424" cy="4872874"/>
          </a:xfrm>
          <a:custGeom>
            <a:avLst/>
            <a:gdLst/>
            <a:ahLst/>
            <a:cxnLst/>
            <a:rect r="r" b="b" t="t" l="l"/>
            <a:pathLst>
              <a:path h="4872874" w="4483424">
                <a:moveTo>
                  <a:pt x="0" y="0"/>
                </a:moveTo>
                <a:lnTo>
                  <a:pt x="4483424" y="0"/>
                </a:lnTo>
                <a:lnTo>
                  <a:pt x="4483424" y="4872874"/>
                </a:lnTo>
                <a:lnTo>
                  <a:pt x="0" y="4872874"/>
                </a:lnTo>
                <a:lnTo>
                  <a:pt x="0" y="0"/>
                </a:lnTo>
                <a:close/>
              </a:path>
            </a:pathLst>
          </a:custGeom>
          <a:blipFill>
            <a:blip r:embed="rId6"/>
            <a:stretch>
              <a:fillRect l="0" t="0" r="0" b="0"/>
            </a:stretch>
          </a:blipFill>
        </p:spPr>
      </p:sp>
      <p:sp>
        <p:nvSpPr>
          <p:cNvPr name="TextBox 12" id="12"/>
          <p:cNvSpPr txBox="true"/>
          <p:nvPr/>
        </p:nvSpPr>
        <p:spPr>
          <a:xfrm rot="0">
            <a:off x="4887267" y="2994649"/>
            <a:ext cx="2459950" cy="663549"/>
          </a:xfrm>
          <a:prstGeom prst="rect">
            <a:avLst/>
          </a:prstGeom>
        </p:spPr>
        <p:txBody>
          <a:bodyPr anchor="t" rtlCol="false" tIns="0" lIns="0" bIns="0" rIns="0">
            <a:spAutoFit/>
          </a:bodyPr>
          <a:lstStyle/>
          <a:p>
            <a:pPr algn="ctr">
              <a:lnSpc>
                <a:spcPts val="4373"/>
              </a:lnSpc>
              <a:spcBef>
                <a:spcPct val="0"/>
              </a:spcBef>
            </a:pPr>
            <a:r>
              <a:rPr lang="en-US" sz="4373" spc="-131">
                <a:solidFill>
                  <a:srgbClr val="000000"/>
                </a:solidFill>
                <a:latin typeface="ITC Avant Garde Gothic"/>
                <a:ea typeface="ITC Avant Garde Gothic"/>
                <a:cs typeface="ITC Avant Garde Gothic"/>
                <a:sym typeface="ITC Avant Garde Gothic"/>
              </a:rPr>
              <a:t>TỔNG KẾT</a:t>
            </a:r>
          </a:p>
        </p:txBody>
      </p:sp>
      <p:sp>
        <p:nvSpPr>
          <p:cNvPr name="TextBox 13" id="13"/>
          <p:cNvSpPr txBox="true"/>
          <p:nvPr/>
        </p:nvSpPr>
        <p:spPr>
          <a:xfrm rot="0">
            <a:off x="13289726" y="2994649"/>
            <a:ext cx="2692718" cy="663549"/>
          </a:xfrm>
          <a:prstGeom prst="rect">
            <a:avLst/>
          </a:prstGeom>
        </p:spPr>
        <p:txBody>
          <a:bodyPr anchor="t" rtlCol="false" tIns="0" lIns="0" bIns="0" rIns="0">
            <a:spAutoFit/>
          </a:bodyPr>
          <a:lstStyle/>
          <a:p>
            <a:pPr algn="ctr">
              <a:lnSpc>
                <a:spcPts val="4373"/>
              </a:lnSpc>
              <a:spcBef>
                <a:spcPct val="0"/>
              </a:spcBef>
            </a:pPr>
            <a:r>
              <a:rPr lang="en-US" sz="4373" spc="-131">
                <a:solidFill>
                  <a:srgbClr val="000000"/>
                </a:solidFill>
                <a:latin typeface="ITC Avant Garde Gothic"/>
                <a:ea typeface="ITC Avant Garde Gothic"/>
                <a:cs typeface="ITC Avant Garde Gothic"/>
                <a:sym typeface="ITC Avant Garde Gothic"/>
              </a:rPr>
              <a:t>ĐÁNH GIÁ</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Bài thuyết trình - Kiểm Thử Bảo Mật OWASP WebGoat</dc:description>
  <dc:identifier>DAHAK6se8QU</dc:identifier>
  <dcterms:modified xsi:type="dcterms:W3CDTF">2011-08-01T06:04:30Z</dcterms:modified>
  <cp:revision>1</cp:revision>
  <dc:title>Bài thuyết trình - Kiểm Thử Bảo Mật OWASP WebGoat</dc:title>
</cp:coreProperties>
</file>